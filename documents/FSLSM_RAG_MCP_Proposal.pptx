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embeddedFontLst>
    <p:embeddedFont>
      <p:font typeface="Georgia" panose="02040502050405020303" pitchFamily="18" charset="0"/>
      <p:regular r:id="rId29"/>
      <p:bold r:id="rId30"/>
      <p:italic r:id="rId31"/>
      <p:boldItalic r:id="rId32"/>
    </p:embeddedFont>
    <p:embeddedFont>
      <p:font typeface="Montserrat" pitchFamily="2" charset="77"/>
      <p:regular r:id="rId33"/>
      <p:bold r:id="rId34"/>
      <p:italic r:id="rId35"/>
      <p:boldItalic r:id="rId36"/>
    </p:embeddedFont>
    <p:embeddedFont>
      <p:font typeface="Oswald" pitchFamily="2" charset="77"/>
      <p:regular r:id="rId37"/>
      <p:bold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4B9D12A-2C3D-47DC-ADC3-D64EFF472797}">
  <a:tblStyle styleId="{84B9D12A-2C3D-47DC-ADC3-D64EFF47279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82990"/>
  </p:normalViewPr>
  <p:slideViewPr>
    <p:cSldViewPr snapToGrid="0">
      <p:cViewPr varScale="1">
        <p:scale>
          <a:sx n="149" d="100"/>
          <a:sy n="149" d="100"/>
        </p:scale>
        <p:origin x="752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-128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Hello, everyone. My name is Nyein Chan Aung, student ID st125553.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Today I'll be presenting my thesis proposal titled: </a:t>
            </a:r>
            <a:r>
              <a:rPr lang="en" b="1">
                <a:solidFill>
                  <a:schemeClr val="dk1"/>
                </a:solidFill>
              </a:rPr>
              <a:t>"The Adaptive Learning Style RAG — or ALS-RAG — Investigating Personalized Learning Style Adaptation in RAG-MCP Using Virtual LLM Agents."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be6a2fc52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be6a2fc52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●The presentation is structured into five main sections.</a:t>
            </a:r>
            <a:endParaRPr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●We'll start with the </a:t>
            </a:r>
            <a:r>
              <a:rPr lang="en" b="1">
                <a:solidFill>
                  <a:schemeClr val="dk1"/>
                </a:solidFill>
              </a:rPr>
              <a:t>Background and Motivation</a:t>
            </a:r>
            <a:r>
              <a:rPr lang="en">
                <a:solidFill>
                  <a:schemeClr val="dk1"/>
                </a:solidFill>
              </a:rPr>
              <a:t>, then move into </a:t>
            </a:r>
            <a:r>
              <a:rPr lang="en" b="1">
                <a:solidFill>
                  <a:schemeClr val="dk1"/>
                </a:solidFill>
              </a:rPr>
              <a:t>Related Work</a:t>
            </a:r>
            <a:r>
              <a:rPr lang="en">
                <a:solidFill>
                  <a:schemeClr val="dk1"/>
                </a:solidFill>
              </a:rPr>
              <a:t>. From there, I'll cover the </a:t>
            </a:r>
            <a:r>
              <a:rPr lang="en" b="1">
                <a:solidFill>
                  <a:schemeClr val="dk1"/>
                </a:solidFill>
              </a:rPr>
              <a:t>Methodology</a:t>
            </a:r>
            <a:r>
              <a:rPr lang="en">
                <a:solidFill>
                  <a:schemeClr val="dk1"/>
                </a:solidFill>
              </a:rPr>
              <a:t> in detail, followed by the </a:t>
            </a:r>
            <a:r>
              <a:rPr lang="en" b="1">
                <a:solidFill>
                  <a:schemeClr val="dk1"/>
                </a:solidFill>
              </a:rPr>
              <a:t>Experimental Design</a:t>
            </a:r>
            <a:r>
              <a:rPr lang="en">
                <a:solidFill>
                  <a:schemeClr val="dk1"/>
                </a:solidFill>
              </a:rPr>
              <a:t>, and finally the Projected </a:t>
            </a:r>
            <a:r>
              <a:rPr lang="en" b="1">
                <a:solidFill>
                  <a:schemeClr val="dk1"/>
                </a:solidFill>
              </a:rPr>
              <a:t>Expected Results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cbe6a2fc52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cbe6a2fc52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Let me start with why this research matters.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AI in education has come a long way.</a:t>
            </a:r>
            <a:r>
              <a:rPr lang="en">
                <a:solidFill>
                  <a:schemeClr val="dk1"/>
                </a:solidFill>
              </a:rPr>
              <a:t> We've moved from rigid, rule-based intelligent tutoring systems to large language model-powered dialogues like </a:t>
            </a:r>
            <a:r>
              <a:rPr lang="en" b="1">
                <a:solidFill>
                  <a:schemeClr val="dk1"/>
                </a:solidFill>
              </a:rPr>
              <a:t>Khanmigo</a:t>
            </a:r>
            <a:r>
              <a:rPr lang="en">
                <a:solidFill>
                  <a:schemeClr val="dk1"/>
                </a:solidFill>
              </a:rPr>
              <a:t> from Khan Academy, or Google Socratic.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These use LLM to talk with students naturally, like a real tutor. That is really impressive.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But there is still a </a:t>
            </a:r>
            <a:r>
              <a:rPr lang="en" b="1">
                <a:solidFill>
                  <a:schemeClr val="dk1"/>
                </a:solidFill>
              </a:rPr>
              <a:t>pedagogical</a:t>
            </a:r>
            <a:r>
              <a:rPr lang="en">
                <a:solidFill>
                  <a:schemeClr val="dk1"/>
                </a:solidFill>
              </a:rPr>
              <a:t> gap. These AI tutors treat everyone the same. They give the same style of answer, no matter what kind of learner you are.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Some students learn better with diagrams, while others prefer step-by-step text. But most of the system ignores that part.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is where the </a:t>
            </a:r>
            <a:r>
              <a:rPr lang="en" b="1">
                <a:solidFill>
                  <a:schemeClr val="dk1"/>
                </a:solidFill>
              </a:rPr>
              <a:t>Felder-Silverman Learning Style Model, or FSLSM</a:t>
            </a:r>
            <a:r>
              <a:rPr lang="en">
                <a:solidFill>
                  <a:schemeClr val="dk1"/>
                </a:solidFill>
              </a:rPr>
              <a:t>, comes in. FSLSM is one of the most validated frameworks in educational psychology for characterizing how people learn. It describes the learner behaviors in four dimensions.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-</a:t>
            </a:r>
            <a:r>
              <a:rPr lang="en" b="1">
                <a:solidFill>
                  <a:schemeClr val="dk1"/>
                </a:solidFill>
              </a:rPr>
              <a:t>Processing</a:t>
            </a:r>
            <a:r>
              <a:rPr lang="en">
                <a:solidFill>
                  <a:schemeClr val="dk1"/>
                </a:solidFill>
              </a:rPr>
              <a:t> — Active vs. Reflective;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-</a:t>
            </a:r>
            <a:r>
              <a:rPr lang="en" b="1">
                <a:solidFill>
                  <a:schemeClr val="dk1"/>
                </a:solidFill>
              </a:rPr>
              <a:t>Perception</a:t>
            </a:r>
            <a:r>
              <a:rPr lang="en">
                <a:solidFill>
                  <a:schemeClr val="dk1"/>
                </a:solidFill>
              </a:rPr>
              <a:t> — Sensing vs. Intuitive;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-</a:t>
            </a:r>
            <a:r>
              <a:rPr lang="en" b="1">
                <a:solidFill>
                  <a:schemeClr val="dk1"/>
                </a:solidFill>
              </a:rPr>
              <a:t>Input</a:t>
            </a:r>
            <a:r>
              <a:rPr lang="en">
                <a:solidFill>
                  <a:schemeClr val="dk1"/>
                </a:solidFill>
              </a:rPr>
              <a:t> — Visual vs. Verbal; and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-</a:t>
            </a:r>
            <a:r>
              <a:rPr lang="en" b="1">
                <a:solidFill>
                  <a:schemeClr val="dk1"/>
                </a:solidFill>
              </a:rPr>
              <a:t>Understanding</a:t>
            </a:r>
            <a:r>
              <a:rPr lang="en">
                <a:solidFill>
                  <a:schemeClr val="dk1"/>
                </a:solidFill>
              </a:rPr>
              <a:t> — Sequential vs. Global.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research combines FSLSM with RAG for content retrieval and MCP for tool management. --- Together, they make a tutoring system that is truly personalized.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92daa48c2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92daa48c2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Let me be specific about the gaps we're addressing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-</a:t>
            </a:r>
            <a:r>
              <a:rPr lang="en" b="1">
                <a:solidFill>
                  <a:schemeClr val="dk1"/>
                </a:solidFill>
              </a:rPr>
              <a:t>First: Pedagogical Blindness.</a:t>
            </a:r>
            <a:r>
              <a:rPr lang="en">
                <a:solidFill>
                  <a:schemeClr val="dk1"/>
                </a:solidFill>
              </a:rPr>
              <a:t> Standard RAG systems retrieve content based on semantic similarity to the query. That's useful, but it completely ignores the learner's cognitive preferences. Imagine a visual learner asking about backpropagation — a standard RAG might return a dense, text-heavy mathematical proof as the top result, even though that's exactly what that learner struggles with.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-The second gap is the lack of a good testbed for evaluating a personalized tutoring system. We need simulated students with known learning styles so we can test if the system is really working.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-The third gap is in the MCP tool selection. Some systems use personas with retrieval, but they do not use MCP in a way that is connected to learning styles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research closes all three gaps at the same time.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12435cc2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912435cc2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●</a:t>
            </a:r>
            <a:r>
              <a:rPr lang="en" sz="1400">
                <a:solidFill>
                  <a:schemeClr val="dk1"/>
                </a:solidFill>
              </a:rPr>
              <a:t>These three gaps map directly to three research questions.</a:t>
            </a:r>
            <a:endParaRPr sz="1400"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●</a:t>
            </a:r>
            <a:r>
              <a:rPr lang="en" sz="1400" b="1">
                <a:solidFill>
                  <a:schemeClr val="dk1"/>
                </a:solidFill>
              </a:rPr>
              <a:t>RQ1</a:t>
            </a:r>
            <a:r>
              <a:rPr lang="en" sz="1400">
                <a:solidFill>
                  <a:schemeClr val="dk1"/>
                </a:solidFill>
              </a:rPr>
              <a:t> is about Tutor Efficacy: To what extent does FSLSM-based personalization in the tutoring system improve response relevance and style conformance, compared to a non-personalized RAG baseline?</a:t>
            </a:r>
            <a:endParaRPr sz="1400"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●</a:t>
            </a:r>
            <a:r>
              <a:rPr lang="en" sz="1400" b="1">
                <a:solidFill>
                  <a:schemeClr val="dk1"/>
                </a:solidFill>
              </a:rPr>
              <a:t>RQ2</a:t>
            </a:r>
            <a:r>
              <a:rPr lang="en" sz="1400">
                <a:solidFill>
                  <a:schemeClr val="dk1"/>
                </a:solidFill>
              </a:rPr>
              <a:t> is about Agent Fidelity: How can we build virtual LLM student agents that consistently reflect distinct FSLSM profiles — and how do we validate that they're a reliable testbed for evaluation?</a:t>
            </a:r>
            <a:endParaRPr sz="1400"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●</a:t>
            </a:r>
            <a:r>
              <a:rPr lang="en" sz="1400" b="1">
                <a:solidFill>
                  <a:schemeClr val="dk1"/>
                </a:solidFill>
              </a:rPr>
              <a:t>RQ3</a:t>
            </a:r>
            <a:r>
              <a:rPr lang="en" sz="1400">
                <a:solidFill>
                  <a:schemeClr val="dk1"/>
                </a:solidFill>
              </a:rPr>
              <a:t> is about System Efficiency: To what extent does FSLSM-conditioned MCP tool selection improve pedagogical tool appropriateness compared to unconditioned tool selection — and what's the efficiency trade-off in terms of prompt tokens?</a:t>
            </a:r>
            <a:endParaRPr sz="1400"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Each of these questions corresponds to a dedicated experiment, which I'll cover shortly.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252827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85898f53b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85898f53b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solidFill>
                  <a:schemeClr val="dk1"/>
                </a:solidFill>
              </a:rPr>
              <a:t>My three hypotheses match the three research questions.</a:t>
            </a:r>
            <a:endParaRPr sz="1400" dirty="0"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●</a:t>
            </a:r>
            <a:r>
              <a:rPr lang="en" sz="1400" dirty="0">
                <a:solidFill>
                  <a:schemeClr val="dk1"/>
                </a:solidFill>
              </a:rPr>
              <a:t>H1 — Personalization works. FSLSM-based tutoring will produce responses that match the student's style significantly better than the baseline.</a:t>
            </a:r>
            <a:endParaRPr sz="1400" dirty="0"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●</a:t>
            </a:r>
            <a:r>
              <a:rPr lang="en" sz="1400" dirty="0">
                <a:solidFill>
                  <a:schemeClr val="dk1"/>
                </a:solidFill>
              </a:rPr>
              <a:t>H2 — Agent quality scales with model size. When we give structured FSLSM profiles to LLMs, larger and more capable models will produce more accurate student personas.</a:t>
            </a:r>
            <a:endParaRPr sz="1400" dirty="0"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●</a:t>
            </a:r>
            <a:r>
              <a:rPr lang="en" sz="1400" dirty="0">
                <a:solidFill>
                  <a:schemeClr val="dk1"/>
                </a:solidFill>
              </a:rPr>
              <a:t>H3 — MCP with FSLSM is more efficient. Conditioning tool selection on the learning style will reduce prompt token usage while keeping retrieval quality the same or even better.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rgbClr val="252827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6fba434b4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6fba434b4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●The three core objectives follow naturally.</a:t>
            </a:r>
            <a:endParaRPr/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●First, to build a RAG-MCP pipeline that includes the student's learning style — and to measure how it affects retrieval latency and alignment.</a:t>
            </a:r>
            <a:endParaRPr/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●Second, to encode FSLSM profiles into virtual student agents — and to measure how well they adapt using simulation-based metrics like fidelity and engagement scores.</a:t>
            </a:r>
            <a:endParaRPr/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●Third, to investigate how model size and tool complexity affect performance — using ablation studies to find the best configuration.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21fc790881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21fc790881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Before diving into methodology, let me be transparent about the scope and limitations.</a:t>
            </a:r>
            <a:endParaRPr dirty="0"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●</a:t>
            </a:r>
            <a:r>
              <a:rPr lang="en" b="1" dirty="0">
                <a:solidFill>
                  <a:schemeClr val="dk1"/>
                </a:solidFill>
              </a:rPr>
              <a:t>In scope:</a:t>
            </a:r>
            <a:r>
              <a:rPr lang="en" dirty="0">
                <a:solidFill>
                  <a:schemeClr val="dk1"/>
                </a:solidFill>
              </a:rPr>
              <a:t> The domain is introductory Machine Learning, using the Dive into Deep Learning (D2L) textbook as the knowledge corpus. We'll cover all four FSLSM dimensions using text-based visual scaffolding. The toolset is 8 to 16 text-only MCP tools, with mid-sized LLMs and API services. We'll use 80 virtual agents across 16 profiles, with multi-turn simulation, and a custom multi-hop, 5-chunk synthetic ground-truth dataset.</a:t>
            </a:r>
            <a:endParaRPr dirty="0"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●</a:t>
            </a:r>
            <a:r>
              <a:rPr lang="en" b="1" dirty="0">
                <a:solidFill>
                  <a:schemeClr val="dk1"/>
                </a:solidFill>
              </a:rPr>
              <a:t>In Key limitations:</a:t>
            </a:r>
            <a:r>
              <a:rPr lang="en" dirty="0">
                <a:solidFill>
                  <a:schemeClr val="dk1"/>
                </a:solidFill>
              </a:rPr>
              <a:t> Virtual agents may not fully replicate the variability of real human learners. The D2L corpus is domain-specific, so results may not generalize to non-technical fields. We're doing text-only visual adaptation — no multimodal image generation. There are also MCP latency concerns if tools are not optimized very well. And there may have a circular evaluation risk when both the judge and the agent are LLMs; We address this through careful experimental design.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21fc790881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21fc790881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Now let me show how this work compares to existing research.</a:t>
            </a:r>
            <a:endParaRPr dirty="0"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●The comparison table on this slide shows five systems across five criteria: FSLSM Integration, LLM Agent Simulation, RAG Personalization, MCP Tool Selection, and Evaluation Approach.</a:t>
            </a:r>
            <a:endParaRPr dirty="0"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●</a:t>
            </a:r>
            <a:r>
              <a:rPr lang="en" b="1" dirty="0">
                <a:solidFill>
                  <a:schemeClr val="dk1"/>
                </a:solidFill>
              </a:rPr>
              <a:t>The pedagogical study paper by Sanyal</a:t>
            </a:r>
            <a:r>
              <a:rPr lang="en" dirty="0">
                <a:solidFill>
                  <a:schemeClr val="dk1"/>
                </a:solidFill>
              </a:rPr>
              <a:t> investigates pedagogical LLM agents with genetic adaptation, but uses only a partial VARK-hybrid learning style model and not the full FSLSM.</a:t>
            </a:r>
            <a:endParaRPr dirty="0"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●</a:t>
            </a:r>
            <a:r>
              <a:rPr lang="en" b="1" dirty="0" err="1">
                <a:solidFill>
                  <a:schemeClr val="dk1"/>
                </a:solidFill>
              </a:rPr>
              <a:t>PersonaRAG</a:t>
            </a:r>
            <a:r>
              <a:rPr lang="en" b="1" dirty="0">
                <a:solidFill>
                  <a:schemeClr val="dk1"/>
                </a:solidFill>
              </a:rPr>
              <a:t> by </a:t>
            </a:r>
            <a:r>
              <a:rPr lang="en" b="1" dirty="0" err="1">
                <a:solidFill>
                  <a:schemeClr val="dk1"/>
                </a:solidFill>
              </a:rPr>
              <a:t>Zerhoundi</a:t>
            </a:r>
            <a:r>
              <a:rPr lang="en" b="1" dirty="0">
                <a:solidFill>
                  <a:schemeClr val="dk1"/>
                </a:solidFill>
              </a:rPr>
              <a:t> </a:t>
            </a:r>
            <a:r>
              <a:rPr lang="en" dirty="0">
                <a:solidFill>
                  <a:schemeClr val="dk1"/>
                </a:solidFill>
              </a:rPr>
              <a:t>introduced persona-aware retrieval, but it does not use any formal learning style model and relies on real user logs — not a controlled simulation.</a:t>
            </a:r>
            <a:endParaRPr dirty="0"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●</a:t>
            </a:r>
            <a:r>
              <a:rPr lang="en" b="1" dirty="0">
                <a:solidFill>
                  <a:schemeClr val="dk1"/>
                </a:solidFill>
              </a:rPr>
              <a:t>The Prompt Bloat paper by Gan and Sun (2025</a:t>
            </a:r>
            <a:r>
              <a:rPr lang="en" dirty="0">
                <a:solidFill>
                  <a:schemeClr val="dk1"/>
                </a:solidFill>
              </a:rPr>
              <a:t>addresses MCP efficiency, but it does not consider any learning style or student modeling at all.</a:t>
            </a:r>
            <a:endParaRPr dirty="0"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●</a:t>
            </a:r>
            <a:r>
              <a:rPr lang="en" b="1" dirty="0">
                <a:solidFill>
                  <a:schemeClr val="dk1"/>
                </a:solidFill>
              </a:rPr>
              <a:t>Index of learning styles by Graf </a:t>
            </a:r>
            <a:r>
              <a:rPr lang="en" dirty="0">
                <a:solidFill>
                  <a:schemeClr val="dk1"/>
                </a:solidFill>
              </a:rPr>
              <a:t>gave us the FSLSM foundation, but this work was done before RAG even existed.</a:t>
            </a:r>
            <a:endParaRPr dirty="0"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●</a:t>
            </a:r>
            <a:r>
              <a:rPr lang="en" b="1" dirty="0">
                <a:solidFill>
                  <a:schemeClr val="dk1"/>
                </a:solidFill>
              </a:rPr>
              <a:t>Our proposed system </a:t>
            </a:r>
            <a:r>
              <a:rPr lang="en" dirty="0">
                <a:solidFill>
                  <a:schemeClr val="dk1"/>
                </a:solidFill>
              </a:rPr>
              <a:t>— is the approach that combines all five criteria: full 4-dimensional FSLSM integration, 80 virtual LLM agents across 16 profiles, learning style - conditioned RAG retrieval, MCP tool selection, and a comprehensive multi-metric evaluation.</a:t>
            </a:r>
            <a:endParaRPr dirty="0"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●It directly addresses the combination of all identified gaps.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6fd5144c2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6fd5144c24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●Let me explain FSLSM in a bit more detail since it is the theoretical foundation of everything.</a:t>
            </a:r>
            <a:endParaRPr/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●The Index of Learning Styles, or ILS, is a questionnaire with 44 questions. It gives each learner a score on each of the four dimensions. The original scale goes from minus 11 to plus 11.</a:t>
            </a:r>
            <a:endParaRPr/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●The four dimensions are:</a:t>
            </a:r>
            <a:endParaRPr/>
          </a:p>
          <a:p>
            <a:pPr marL="4699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○Active versus Reflective: do you learn by doing, or by thinking?</a:t>
            </a:r>
            <a:endParaRPr/>
          </a:p>
          <a:p>
            <a:pPr marL="4699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○Sensing versus Intuitive: do you prefer facts, or theory?</a:t>
            </a:r>
            <a:endParaRPr/>
          </a:p>
          <a:p>
            <a:pPr marL="4699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○Visual versus Verbal: do you prefer pictures, or written explanation?</a:t>
            </a:r>
            <a:endParaRPr/>
          </a:p>
          <a:p>
            <a:pPr marL="4699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○Sequential versus Global: do you like step-by-step, or the big picture first?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8e078afc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a8e078afc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●Since the original ILS based on the -11 and +11, it gives over 20,000 possible profile combinations. That is too complex for our simulation.</a:t>
            </a:r>
            <a:endParaRPr/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●So we use a simplified "binary version." Instead of a full scale, each dimension is just one of two values — like Active or Reflective. With 4 dimensions and 2 values each, we get exactly 16 profiles. We create 5 agents per profile, giving us 80 virtual students in total.</a:t>
            </a:r>
            <a:endParaRPr/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●This is simple enough to test systematically, but still captures the key differences between learning styles.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9432eebd5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9432eebd5d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●The tutoring layer is based on PersonaRAG, extended with FSLSM awareness. There are four agents working together.</a:t>
            </a:r>
            <a:endParaRPr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●A </a:t>
            </a:r>
            <a:r>
              <a:rPr lang="en" b="1">
                <a:solidFill>
                  <a:schemeClr val="dk1"/>
                </a:solidFill>
              </a:rPr>
              <a:t>User Profile Agent</a:t>
            </a:r>
            <a:r>
              <a:rPr lang="en">
                <a:solidFill>
                  <a:schemeClr val="dk1"/>
                </a:solidFill>
              </a:rPr>
              <a:t> monitors the FSLSM vector and generates a reasoning plan for the retrieval structure.</a:t>
            </a:r>
            <a:endParaRPr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●A </a:t>
            </a:r>
            <a:r>
              <a:rPr lang="en" b="1">
                <a:solidFill>
                  <a:schemeClr val="dk1"/>
                </a:solidFill>
              </a:rPr>
              <a:t>Context Retrieval Agent</a:t>
            </a:r>
            <a:r>
              <a:rPr lang="en">
                <a:solidFill>
                  <a:schemeClr val="dk1"/>
                </a:solidFill>
              </a:rPr>
              <a:t> rewrites the query using style instructions — for example, adding visual scaffolding for a visual learner.</a:t>
            </a:r>
            <a:endParaRPr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●A </a:t>
            </a:r>
            <a:r>
              <a:rPr lang="en" b="1">
                <a:solidFill>
                  <a:schemeClr val="dk1"/>
                </a:solidFill>
              </a:rPr>
              <a:t>Document Ranking Agent</a:t>
            </a:r>
            <a:r>
              <a:rPr lang="en">
                <a:solidFill>
                  <a:schemeClr val="dk1"/>
                </a:solidFill>
              </a:rPr>
              <a:t> re-ranks the retrieved passages to put the most style-appropriate ones first.</a:t>
            </a:r>
            <a:endParaRPr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●And a </a:t>
            </a:r>
            <a:r>
              <a:rPr lang="en" b="1">
                <a:solidFill>
                  <a:schemeClr val="dk1"/>
                </a:solidFill>
              </a:rPr>
              <a:t>Feedback Agent</a:t>
            </a:r>
            <a:r>
              <a:rPr lang="en">
                <a:solidFill>
                  <a:schemeClr val="dk1"/>
                </a:solidFill>
              </a:rPr>
              <a:t> continuously integrates interaction data to refine future outputs.</a:t>
            </a:r>
            <a:endParaRPr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●Together all these agents, make retrieval dynamic and aware the learner behaviour.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21fc790881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21fc790881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●The full system has four architectural layers.</a:t>
            </a:r>
            <a:endParaRPr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●The </a:t>
            </a:r>
            <a:r>
              <a:rPr lang="en" b="1">
                <a:solidFill>
                  <a:schemeClr val="dk1"/>
                </a:solidFill>
              </a:rPr>
              <a:t>Simulation Layer</a:t>
            </a:r>
            <a:r>
              <a:rPr lang="en">
                <a:solidFill>
                  <a:schemeClr val="dk1"/>
                </a:solidFill>
              </a:rPr>
              <a:t> houses the 80 virtual LLM student agents.</a:t>
            </a:r>
            <a:endParaRPr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●The </a:t>
            </a:r>
            <a:r>
              <a:rPr lang="en" b="1">
                <a:solidFill>
                  <a:schemeClr val="dk1"/>
                </a:solidFill>
              </a:rPr>
              <a:t>PersonaRAG Tutor Layer</a:t>
            </a:r>
            <a:r>
              <a:rPr lang="en">
                <a:solidFill>
                  <a:schemeClr val="dk1"/>
                </a:solidFill>
              </a:rPr>
              <a:t> handles style-aware content adaptation and FSLSM-based reranking.</a:t>
            </a:r>
            <a:endParaRPr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●The MCP Tool Layer does smart tool selection using a vector index of tool descriptions.</a:t>
            </a:r>
            <a:endParaRPr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●And the Data Layer includes the D2L corpus, FSLSM profiles as JSON, a FAISS vector store, and interaction logs.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7d7ec2866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a7d7ec2866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make this concrete, let me walk through the 7-step flow for learning style integration.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-A student or virtual LLM agent sends a question.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-The system loads their FSLSM profile from the database.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-The User Profile Agent translates that profile into teaching instructions — for example, "this student is visual and global, so start with the big picture and use structured examples."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-Those instructions are injected into the prompt.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-The Retrieval Agent pulls 5 to 10 chunks from the D2L corpus.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-The Ranking Agent re-orders them to have a best match the student's style.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-Finally, the system generates a personalized response — that opens with the big picture for a global learner, or goes step-by-step for a sequential learner.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6fd5144c24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6fd5144c24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●The virtual student agents will be built by following a four-step lifecycle.</a:t>
            </a:r>
            <a:endParaRPr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●First, we </a:t>
            </a:r>
            <a:r>
              <a:rPr lang="en" b="1">
                <a:solidFill>
                  <a:schemeClr val="dk1"/>
                </a:solidFill>
              </a:rPr>
              <a:t>predefine 16 FSLSM profiles</a:t>
            </a:r>
            <a:r>
              <a:rPr lang="en">
                <a:solidFill>
                  <a:schemeClr val="dk1"/>
                </a:solidFill>
              </a:rPr>
              <a:t> using the minimum binary encoding.</a:t>
            </a:r>
            <a:endParaRPr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●Second, we </a:t>
            </a:r>
            <a:r>
              <a:rPr lang="en" b="1">
                <a:solidFill>
                  <a:schemeClr val="dk1"/>
                </a:solidFill>
              </a:rPr>
              <a:t>translate each profile into a roleplay persona prompt</a:t>
            </a:r>
            <a:r>
              <a:rPr lang="en">
                <a:solidFill>
                  <a:schemeClr val="dk1"/>
                </a:solidFill>
              </a:rPr>
              <a:t> through reverse engineering, we ask the LLM to act like a student with those specific preferences.</a:t>
            </a:r>
            <a:endParaRPr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●Third, we </a:t>
            </a:r>
            <a:r>
              <a:rPr lang="en" b="1">
                <a:solidFill>
                  <a:schemeClr val="dk1"/>
                </a:solidFill>
              </a:rPr>
              <a:t>evaluate agent fidelity</a:t>
            </a:r>
            <a:r>
              <a:rPr lang="en">
                <a:solidFill>
                  <a:schemeClr val="dk1"/>
                </a:solidFill>
              </a:rPr>
              <a:t> by having it answer the real 44-question ILS survey. We then compare the result to the intended profile.</a:t>
            </a:r>
            <a:endParaRPr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●And fourth, we conduct </a:t>
            </a:r>
            <a:r>
              <a:rPr lang="en" b="1">
                <a:solidFill>
                  <a:schemeClr val="dk1"/>
                </a:solidFill>
              </a:rPr>
              <a:t>pairwise A/B evaluation</a:t>
            </a:r>
            <a:r>
              <a:rPr lang="en">
                <a:solidFill>
                  <a:schemeClr val="dk1"/>
                </a:solidFill>
              </a:rPr>
              <a:t> where the agent rates two responses — one personalized, one generic — and tells us which one is more suitable for it.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6fd5144c24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6fd5144c24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●That is how I construct the RAG-MCP architecture layer.</a:t>
            </a:r>
            <a:endParaRPr/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●The MCP Client — which can be a student agent or a real user- it will get the Learning Style Preferences from the PersonaRG layer and connect to an MCP Server housing the LLM orchestrator.</a:t>
            </a:r>
            <a:endParaRPr/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●The orchestrator uses a RAG-MCP Tool Selection Layer: it encodes the user query, searches a vector index of tool metadata, and selects only the single most relevant tool — rather than loading all tool schemas into the prompt at once. This keeps the prompt short and the selection accurate.</a:t>
            </a:r>
            <a:endParaRPr/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●The available tools include a quiz generator, a summarizer, a web search tool, and an evaluation logger and other additional tools, each connected to specific learning styles and query types.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9432eebd5d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9432eebd5d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●The knowledge corpus is the Dive into Deep Learning textbook which is open-source, covering neural networks and optimization.</a:t>
            </a:r>
            <a:endParaRPr/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●We split it into about 2,500 chunks with metadata for chapter, section, and concept.</a:t>
            </a:r>
            <a:endParaRPr/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●For evaluation, we create a custom dataset where each question needs information from exactly 5 chunks to be answered correctly.</a:t>
            </a:r>
            <a:endParaRPr/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●Question types include compare, trace-evolution, and debug-scenario, ect,. Each record include question, gold answer with chunk IDs in addition to supporting chunk annotation.</a:t>
            </a:r>
            <a:endParaRPr/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●We also run a leave-one-out check during construction to make sure every question truly needs all 5 chunks.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a7d7ec2866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a7d7ec2866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●EXP1 is designed for the research question 2, to validate whether our 80 virtual agents really act like their assigned FSLSM profile.</a:t>
            </a:r>
            <a:endParaRPr dirty="0"/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●We use two metrics.</a:t>
            </a:r>
            <a:endParaRPr dirty="0"/>
          </a:p>
          <a:p>
            <a:pPr marL="12700" lvl="0" indent="444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○Profile Recovery Accuracy (PRA) is used to decide whether it can recover the correct profile from the agent's answers to the ILS survey. The expected target is 0.80 or above.</a:t>
            </a:r>
            <a:endParaRPr dirty="0"/>
          </a:p>
          <a:p>
            <a:pPr marL="12700" lvl="0" indent="444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○And the Dimension Alignment Score (DAS) will help to answer how well the agent's responses match the FSLSM trait descriptions. The expected target is 0.75 or above.</a:t>
            </a:r>
            <a:endParaRPr dirty="0"/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●We projected that GPT-4o will reach 0.82 in PRA and 0.78 in DAS. Claude Sonnet could hit both targets, but Llama 3 8B could be slightly below.</a:t>
            </a:r>
            <a:endParaRPr dirty="0"/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●The baseline without FSLSM could only score around 0.60, which shows that profile encoding is essential.</a:t>
            </a: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------</a:t>
            </a:r>
          </a:p>
          <a:p>
            <a:pPr marL="12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PRA measures whether a virtual agent, after completing a multi-turn simulation session, produces ILS questionnaire answers that correctly recover its originally assigned FSLSM profile. It is essentially a classification accuracy: did the agent act consistently enough that we can identify its profile?</a:t>
            </a:r>
          </a:p>
          <a:p>
            <a:pPr marL="12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/>
              <a:defRPr/>
            </a:pPr>
            <a:endParaRPr lang="en-US" dirty="0"/>
          </a:p>
          <a:p>
            <a:pPr marL="12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/>
              <a:defRPr/>
            </a:pPr>
            <a:r>
              <a:rPr lang="en-US" b="1" dirty="0"/>
              <a:t>Limitation to be aware of:</a:t>
            </a:r>
            <a:r>
              <a:rPr lang="en-US" dirty="0"/>
              <a:t> PRA uses a strict all-or-none matching rule — the agent must get all 4 dimensions correct. This is a conservative criterion. If an agent gets 3 out of 4 dimensions right, it still scores 0. This strictness is intentional: a testbed that only partially matches profiles could mislead the tutor efficacy experiments.</a:t>
            </a:r>
          </a:p>
          <a:p>
            <a:pPr marL="12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/>
              <a:defRPr/>
            </a:pPr>
            <a:endParaRPr lang="en-US" dirty="0"/>
          </a:p>
          <a:p>
            <a:r>
              <a:rPr lang="en-US" dirty="0"/>
              <a:t>5 agents tested, 3 correct matches → </a:t>
            </a:r>
            <a:r>
              <a:rPr lang="en-US" b="1" dirty="0"/>
              <a:t>PRA = 3/5 = 0.60</a:t>
            </a:r>
            <a:endParaRPr lang="en-US" dirty="0"/>
          </a:p>
          <a:p>
            <a:r>
              <a:rPr lang="en-US" dirty="0"/>
              <a:t>In our full experiment with 80 agents:</a:t>
            </a:r>
          </a:p>
          <a:p>
            <a:r>
              <a:rPr lang="en-US" dirty="0"/>
              <a:t>GPT-4o target: PRA = 0.82 → means 66 out of 80 agents correctly recovered</a:t>
            </a:r>
          </a:p>
          <a:p>
            <a:r>
              <a:rPr lang="en-US" dirty="0"/>
              <a:t>Baseline target: PRA = 0.60 → means only 48 out of 80 agents correct</a:t>
            </a:r>
          </a:p>
          <a:p>
            <a:pPr marL="12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/>
              <a:defRPr/>
            </a:pPr>
            <a:endParaRPr lang="en-US"/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----</a:t>
            </a: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dirty="0"/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9432eebd5d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9432eebd5d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●EXP2 compares the personalized tutor against the baseline across 4,000 A/B testing sessions.</a:t>
            </a:r>
            <a:endParaRPr dirty="0"/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●Key metrics are</a:t>
            </a:r>
            <a:endParaRPr dirty="0"/>
          </a:p>
          <a:p>
            <a:pPr marL="4699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○Style Conformance Score,</a:t>
            </a:r>
            <a:endParaRPr dirty="0"/>
          </a:p>
          <a:p>
            <a:pPr marL="4699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○Response Relevance from an LLM judge,</a:t>
            </a:r>
            <a:endParaRPr dirty="0"/>
          </a:p>
          <a:p>
            <a:pPr marL="4699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○Chunk Recall at 5,</a:t>
            </a:r>
            <a:endParaRPr dirty="0"/>
          </a:p>
          <a:p>
            <a:pPr marL="4699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○Essential Recall, and</a:t>
            </a:r>
            <a:endParaRPr dirty="0"/>
          </a:p>
          <a:p>
            <a:pPr marL="4699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○Engagement scores from the agents.</a:t>
            </a:r>
            <a:endParaRPr dirty="0"/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●We expect that</a:t>
            </a:r>
            <a:endParaRPr dirty="0"/>
          </a:p>
          <a:p>
            <a:pPr marL="4699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○Style conformance improves from 0.45 to 0.70</a:t>
            </a:r>
            <a:endParaRPr dirty="0"/>
          </a:p>
          <a:p>
            <a:pPr marL="4699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○Engagement rises from 3.2 to 4.5.</a:t>
            </a:r>
            <a:endParaRPr dirty="0"/>
          </a:p>
          <a:p>
            <a:pPr marL="4699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○And the other retrieval metrics could also improve.</a:t>
            </a:r>
          </a:p>
          <a:p>
            <a:pPr marL="4699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It is showing that personalization helps the content quality, not only the style.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9432eebd5d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9432eebd5d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●EXP3 is an ablation study comparing three tool-handling approaches.</a:t>
            </a:r>
            <a:endParaRPr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●Key metrics are </a:t>
            </a:r>
            <a:r>
              <a:rPr lang="en" b="1">
                <a:solidFill>
                  <a:schemeClr val="dk1"/>
                </a:solidFill>
              </a:rPr>
              <a:t>Prompt Token Savings and Tool Selection Accuracy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●The plain RAG baseline should have a Tool Selection Accuracy of only 14 percent.</a:t>
            </a:r>
            <a:endParaRPr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●RAG-MCP without learning style could improve to about 35 percent and save 30 to 40 percent of prompt tokens.</a:t>
            </a:r>
            <a:endParaRPr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●Our proposed RAG-MCP with FSLSM conditioning is projected to reach about 45 percent accuracy and save up to 50 percent of tokens.</a:t>
            </a:r>
            <a:endParaRPr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●This shows that adding learning style awareness improves both accuracy and efficiency.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c4ab5cb641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c4ab5cb641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●So let me bring everything together on this summary slide.</a:t>
            </a:r>
            <a:endParaRPr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●</a:t>
            </a:r>
            <a:r>
              <a:rPr lang="en" b="1">
                <a:solidFill>
                  <a:schemeClr val="dk1"/>
                </a:solidFill>
              </a:rPr>
              <a:t>The problem</a:t>
            </a:r>
            <a:r>
              <a:rPr lang="en">
                <a:solidFill>
                  <a:schemeClr val="dk1"/>
                </a:solidFill>
              </a:rPr>
              <a:t> is straightforward: today's AI tutors are pedagogically blind. Standard RAG retrieves/ semantically relevant content, but it completely ignores </a:t>
            </a:r>
            <a:r>
              <a:rPr lang="en" i="1">
                <a:solidFill>
                  <a:schemeClr val="dk1"/>
                </a:solidFill>
              </a:rPr>
              <a:t>how</a:t>
            </a:r>
            <a:r>
              <a:rPr lang="en">
                <a:solidFill>
                  <a:schemeClr val="dk1"/>
                </a:solidFill>
              </a:rPr>
              <a:t> a learner prefers to learn. There's no validated simulation testbed, and MCP tool selection is entirely style-agnostic.</a:t>
            </a:r>
            <a:endParaRPr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●</a:t>
            </a:r>
            <a:r>
              <a:rPr lang="en" b="1">
                <a:solidFill>
                  <a:schemeClr val="dk1"/>
                </a:solidFill>
              </a:rPr>
              <a:t>The proposed solution</a:t>
            </a:r>
            <a:r>
              <a:rPr lang="en">
                <a:solidFill>
                  <a:schemeClr val="dk1"/>
                </a:solidFill>
              </a:rPr>
              <a:t> is a framework that connects three things/ that have never been combined before. FSLSM gives us a validated 4-dimensional model of learning preferences. PersonaRAG gives us the architecture for style-conditioned retrieval and reranking. And RAG-MCP gives us an efficient, semantic tool selection.</a:t>
            </a:r>
            <a:endParaRPr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●I believe this work has real potential to move AI tutoring beyond one-size-fits-all responses toward something that actually meets each learner preferences.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cc446a5c7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cc446a5c7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 tentative timeline spans from June 2025 through July 2026.</a:t>
            </a:r>
          </a:p>
          <a:p>
            <a:r>
              <a:rPr lang="en-US" dirty="0"/>
              <a:t>The first phase — literature review and proposal defense — is already nearly complete, with the proposal defense happening now. Development and experimentation are planned from August through November 2025. A progress defense is scheduled around December to January. Analysis and writing follow through March to April 2026, with a target publication submission and final defense by June to July 2026.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cbe6a2fc52_1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cbe6a2fc52_1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a92daa48c2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a92daa48c2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c0c7c36b05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c0c7c36b05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cbe6a2fc52_1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cbe6a2fc52_1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523800" y="238125"/>
            <a:ext cx="8096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252827"/>
                </a:solidFill>
                <a:latin typeface="Montserrat"/>
                <a:ea typeface="Montserrat"/>
                <a:cs typeface="Montserrat"/>
                <a:sym typeface="Montserrat"/>
              </a:rPr>
              <a:t>PROPOSAL PRESENTATION</a:t>
            </a:r>
            <a:endParaRPr sz="1100" b="1">
              <a:solidFill>
                <a:srgbClr val="2528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523800" y="3104325"/>
            <a:ext cx="8096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52827"/>
                </a:solidFill>
                <a:latin typeface="Montserrat"/>
                <a:ea typeface="Montserrat"/>
                <a:cs typeface="Montserrat"/>
                <a:sym typeface="Montserrat"/>
              </a:rPr>
              <a:t>Nyein Chan Aung        -     Student ID: st125553</a:t>
            </a:r>
            <a:endParaRPr sz="1100">
              <a:solidFill>
                <a:srgbClr val="2528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523799" y="3562025"/>
            <a:ext cx="8096400" cy="9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252827"/>
                </a:solidFill>
                <a:latin typeface="Montserrat"/>
                <a:ea typeface="Montserrat"/>
                <a:cs typeface="Montserrat"/>
                <a:sym typeface="Montserrat"/>
              </a:rPr>
              <a:t>COMMITTEE MEMBERS</a:t>
            </a:r>
            <a:endParaRPr sz="1100" b="1">
              <a:solidFill>
                <a:srgbClr val="25282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52827"/>
                </a:solidFill>
                <a:latin typeface="Montserrat"/>
                <a:ea typeface="Montserrat"/>
                <a:cs typeface="Montserrat"/>
                <a:sym typeface="Montserrat"/>
              </a:rPr>
              <a:t>Dr. Chaklam Silpasuwanchai (Chairperson)</a:t>
            </a:r>
            <a:endParaRPr sz="1100">
              <a:solidFill>
                <a:srgbClr val="25282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52827"/>
                </a:solidFill>
                <a:latin typeface="Montserrat"/>
                <a:ea typeface="Montserrat"/>
                <a:cs typeface="Montserrat"/>
                <a:sym typeface="Montserrat"/>
              </a:rPr>
              <a:t>Prof. Attaphongse Taparugssanagorn(Member)</a:t>
            </a:r>
            <a:endParaRPr sz="1100">
              <a:solidFill>
                <a:srgbClr val="25282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52827"/>
                </a:solidFill>
                <a:latin typeface="Montserrat"/>
                <a:ea typeface="Montserrat"/>
                <a:cs typeface="Montserrat"/>
                <a:sym typeface="Montserrat"/>
              </a:rPr>
              <a:t>Dr. Chantri Polprasert (Member)</a:t>
            </a:r>
            <a:endParaRPr sz="1100">
              <a:solidFill>
                <a:srgbClr val="2528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707550" y="1054775"/>
            <a:ext cx="7728900" cy="17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 i="1">
                <a:solidFill>
                  <a:srgbClr val="252827"/>
                </a:solidFill>
                <a:latin typeface="Georgia"/>
                <a:ea typeface="Georgia"/>
                <a:cs typeface="Georgia"/>
                <a:sym typeface="Georgia"/>
              </a:rPr>
              <a:t>The Adaptive Learning Style RAG (ALS-RAG): </a:t>
            </a:r>
            <a:endParaRPr sz="2300" b="1" i="1">
              <a:solidFill>
                <a:srgbClr val="25282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252827"/>
                </a:solidFill>
                <a:latin typeface="Montserrat"/>
                <a:ea typeface="Montserrat"/>
                <a:cs typeface="Montserrat"/>
                <a:sym typeface="Montserrat"/>
              </a:rPr>
              <a:t>Investigating Personalized Learning Style Adaptation in RAG-MCP Using Virtual LLM Agents</a:t>
            </a:r>
            <a:endParaRPr sz="2300" b="1">
              <a:solidFill>
                <a:srgbClr val="2528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4066350" y="652400"/>
            <a:ext cx="1011300" cy="480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6600" y="64925"/>
            <a:ext cx="700399" cy="700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0" y="4852500"/>
            <a:ext cx="9144000" cy="291000"/>
          </a:xfrm>
          <a:prstGeom prst="rect">
            <a:avLst/>
          </a:prstGeom>
          <a:solidFill>
            <a:srgbClr val="2528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579275" y="2117375"/>
            <a:ext cx="3094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252827"/>
                </a:solidFill>
                <a:latin typeface="Oswald"/>
                <a:ea typeface="Oswald"/>
                <a:cs typeface="Oswald"/>
                <a:sym typeface="Oswald"/>
              </a:rPr>
              <a:t>TABLE OF</a:t>
            </a:r>
            <a:r>
              <a:rPr lang="en" sz="2800" b="1">
                <a:solidFill>
                  <a:srgbClr val="252827"/>
                </a:solidFill>
                <a:latin typeface="Oswald"/>
                <a:ea typeface="Oswald"/>
                <a:cs typeface="Oswald"/>
                <a:sym typeface="Oswald"/>
              </a:rPr>
              <a:t> CONTENTS</a:t>
            </a:r>
            <a:endParaRPr sz="2800" b="1">
              <a:solidFill>
                <a:srgbClr val="F8CF2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5667125" y="564550"/>
            <a:ext cx="2692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252827"/>
                </a:solidFill>
                <a:latin typeface="Oswald"/>
                <a:ea typeface="Oswald"/>
                <a:cs typeface="Oswald"/>
                <a:sym typeface="Oswald"/>
              </a:rPr>
              <a:t>BACKGROUND</a:t>
            </a:r>
            <a:endParaRPr sz="1900" b="1">
              <a:solidFill>
                <a:srgbClr val="F8CF2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5667125" y="1259375"/>
            <a:ext cx="2692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252827"/>
                </a:solidFill>
                <a:latin typeface="Oswald"/>
                <a:ea typeface="Oswald"/>
                <a:cs typeface="Oswald"/>
                <a:sym typeface="Oswald"/>
              </a:rPr>
              <a:t>RELATED WORK</a:t>
            </a:r>
            <a:endParaRPr sz="1900" b="1">
              <a:solidFill>
                <a:srgbClr val="F8CF2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5667125" y="1970975"/>
            <a:ext cx="30573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252827"/>
                </a:solidFill>
                <a:latin typeface="Oswald"/>
                <a:ea typeface="Oswald"/>
                <a:cs typeface="Oswald"/>
                <a:sym typeface="Oswald"/>
              </a:rPr>
              <a:t>METHODOLOGY</a:t>
            </a:r>
            <a:endParaRPr sz="1900" b="1">
              <a:solidFill>
                <a:srgbClr val="F8CF2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5667125" y="2725938"/>
            <a:ext cx="2692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252827"/>
                </a:solidFill>
                <a:latin typeface="Oswald"/>
                <a:ea typeface="Oswald"/>
                <a:cs typeface="Oswald"/>
                <a:sym typeface="Oswald"/>
              </a:rPr>
              <a:t>EXPERIMENT</a:t>
            </a:r>
            <a:endParaRPr sz="1900" b="1">
              <a:solidFill>
                <a:srgbClr val="F8CF2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4734800" y="479800"/>
            <a:ext cx="678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252827"/>
                </a:solidFill>
                <a:latin typeface="Oswald"/>
                <a:ea typeface="Oswald"/>
                <a:cs typeface="Oswald"/>
                <a:sym typeface="Oswald"/>
              </a:rPr>
              <a:t>01</a:t>
            </a:r>
            <a:endParaRPr sz="3000" b="1">
              <a:solidFill>
                <a:srgbClr val="F8CF2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4734800" y="1174625"/>
            <a:ext cx="678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252827"/>
                </a:solidFill>
                <a:latin typeface="Oswald"/>
                <a:ea typeface="Oswald"/>
                <a:cs typeface="Oswald"/>
                <a:sym typeface="Oswald"/>
              </a:rPr>
              <a:t>02</a:t>
            </a:r>
            <a:endParaRPr sz="3000" b="1">
              <a:solidFill>
                <a:srgbClr val="F8CF2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4734800" y="1904150"/>
            <a:ext cx="678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252827"/>
                </a:solidFill>
                <a:latin typeface="Oswald"/>
                <a:ea typeface="Oswald"/>
                <a:cs typeface="Oswald"/>
                <a:sym typeface="Oswald"/>
              </a:rPr>
              <a:t>03</a:t>
            </a:r>
            <a:endParaRPr sz="3000" b="1">
              <a:solidFill>
                <a:srgbClr val="F8CF2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4734800" y="2616325"/>
            <a:ext cx="678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252827"/>
                </a:solidFill>
                <a:latin typeface="Oswald"/>
                <a:ea typeface="Oswald"/>
                <a:cs typeface="Oswald"/>
                <a:sym typeface="Oswald"/>
              </a:rPr>
              <a:t>04</a:t>
            </a:r>
            <a:endParaRPr sz="3000" b="1">
              <a:solidFill>
                <a:srgbClr val="F8CF2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4839575" y="1022175"/>
            <a:ext cx="3094800" cy="480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BA8EB"/>
              </a:solidFill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4839575" y="1808000"/>
            <a:ext cx="3094800" cy="480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BA8EB"/>
              </a:solidFill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4839575" y="2546250"/>
            <a:ext cx="3094800" cy="480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BA8EB"/>
              </a:solidFill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4839575" y="3327300"/>
            <a:ext cx="3094800" cy="480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BA8EB"/>
              </a:solidFill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5667125" y="3564150"/>
            <a:ext cx="31854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252827"/>
                </a:solidFill>
                <a:latin typeface="Oswald"/>
                <a:ea typeface="Oswald"/>
                <a:cs typeface="Oswald"/>
                <a:sym typeface="Oswald"/>
              </a:rPr>
              <a:t>EXPECTED PROJECTED RESULT</a:t>
            </a:r>
            <a:endParaRPr sz="1900" b="1">
              <a:solidFill>
                <a:srgbClr val="F8CF2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4734800" y="3454525"/>
            <a:ext cx="678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252827"/>
                </a:solidFill>
                <a:latin typeface="Oswald"/>
                <a:ea typeface="Oswald"/>
                <a:cs typeface="Oswald"/>
                <a:sym typeface="Oswald"/>
              </a:rPr>
              <a:t>05</a:t>
            </a:r>
            <a:endParaRPr sz="3000" b="1">
              <a:solidFill>
                <a:srgbClr val="F8CF2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4839575" y="4165500"/>
            <a:ext cx="3094800" cy="480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BA8EB"/>
              </a:solidFill>
            </a:endParaRPr>
          </a:p>
        </p:txBody>
      </p:sp>
      <p:sp>
        <p:nvSpPr>
          <p:cNvPr id="82" name="Google Shape;8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/>
          <p:nvPr/>
        </p:nvSpPr>
        <p:spPr>
          <a:xfrm>
            <a:off x="418025" y="468350"/>
            <a:ext cx="66288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252827"/>
                </a:solidFill>
                <a:latin typeface="Oswald"/>
                <a:ea typeface="Oswald"/>
                <a:cs typeface="Oswald"/>
                <a:sym typeface="Oswald"/>
              </a:rPr>
              <a:t>INTRODUCTION: Background and Motivation</a:t>
            </a:r>
            <a:endParaRPr sz="2300" b="1">
              <a:solidFill>
                <a:srgbClr val="252827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510450" y="984075"/>
            <a:ext cx="646800" cy="1113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BA8EB"/>
              </a:solidFill>
            </a:endParaRPr>
          </a:p>
        </p:txBody>
      </p:sp>
      <p:sp>
        <p:nvSpPr>
          <p:cNvPr id="89" name="Google Shape;8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90" name="Google Shape;90;p15"/>
          <p:cNvSpPr/>
          <p:nvPr/>
        </p:nvSpPr>
        <p:spPr>
          <a:xfrm>
            <a:off x="559825" y="1301625"/>
            <a:ext cx="3966300" cy="1364700"/>
          </a:xfrm>
          <a:prstGeom prst="roundRect">
            <a:avLst>
              <a:gd name="adj" fmla="val 11283"/>
            </a:avLst>
          </a:prstGeom>
          <a:solidFill>
            <a:srgbClr val="F3F3F3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1" name="Google Shape;9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050" y="1454526"/>
            <a:ext cx="365200" cy="3652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5"/>
          <p:cNvSpPr/>
          <p:nvPr/>
        </p:nvSpPr>
        <p:spPr>
          <a:xfrm>
            <a:off x="4618650" y="1301625"/>
            <a:ext cx="3966300" cy="1364700"/>
          </a:xfrm>
          <a:prstGeom prst="roundRect">
            <a:avLst>
              <a:gd name="adj" fmla="val 11394"/>
            </a:avLst>
          </a:prstGeom>
          <a:solidFill>
            <a:srgbClr val="F3F3F3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5"/>
          <p:cNvSpPr txBox="1"/>
          <p:nvPr/>
        </p:nvSpPr>
        <p:spPr>
          <a:xfrm>
            <a:off x="1280675" y="14370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Evolution of AI in Education</a:t>
            </a:r>
            <a:endParaRPr b="1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762775" y="1854725"/>
            <a:ext cx="3517800" cy="7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From rigid rule-based ITS to fluid LLM-powered dialogues (e.g., Khanmigo, Google Socratic). Modern systems offer interactive, Socratic-style tutoring at scale.</a:t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5311450" y="14370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The Pedagogical Gap</a:t>
            </a:r>
            <a:endParaRPr b="1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4025" y="1454525"/>
            <a:ext cx="365200" cy="3652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5"/>
          <p:cNvSpPr txBox="1"/>
          <p:nvPr/>
        </p:nvSpPr>
        <p:spPr>
          <a:xfrm>
            <a:off x="4926375" y="1854725"/>
            <a:ext cx="3517800" cy="7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AI tutors rely on static knowledge profiles and fail to dynamically adapt to validated learning style models like FSLSM. Instruction often mismatches learner preferences.</a:t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559825" y="2743200"/>
            <a:ext cx="8025000" cy="2260500"/>
          </a:xfrm>
          <a:prstGeom prst="roundRect">
            <a:avLst>
              <a:gd name="adj" fmla="val 5573"/>
            </a:avLst>
          </a:prstGeom>
          <a:solidFill>
            <a:srgbClr val="F3F3F3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5"/>
          <p:cNvSpPr txBox="1"/>
          <p:nvPr/>
        </p:nvSpPr>
        <p:spPr>
          <a:xfrm>
            <a:off x="1245625" y="2815263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Critical Need of Learning Style</a:t>
            </a:r>
            <a:endParaRPr sz="1300" b="1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8300" y="2815275"/>
            <a:ext cx="312700" cy="3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758225" y="3200175"/>
            <a:ext cx="7686000" cy="5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Frameworks that unify factual grounding (RAG) with stylistic adaptation (FSLSM) and efficient tool management (MCP) to deliver truly personalized AI tutoring.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758225" y="3829475"/>
            <a:ext cx="5948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FSLSM: 4 Dimensions of Learning Preferences</a:t>
            </a:r>
            <a:endParaRPr sz="1300" b="1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2888" y="4291126"/>
            <a:ext cx="7858874" cy="5571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/>
          <p:nvPr/>
        </p:nvSpPr>
        <p:spPr>
          <a:xfrm>
            <a:off x="363900" y="1298000"/>
            <a:ext cx="8579400" cy="3111300"/>
          </a:xfrm>
          <a:prstGeom prst="roundRect">
            <a:avLst>
              <a:gd name="adj" fmla="val 5173"/>
            </a:avLst>
          </a:prstGeom>
          <a:solidFill>
            <a:srgbClr val="F3F3F3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6"/>
          <p:cNvSpPr txBox="1"/>
          <p:nvPr/>
        </p:nvSpPr>
        <p:spPr>
          <a:xfrm>
            <a:off x="418025" y="468350"/>
            <a:ext cx="48129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252827"/>
                </a:solidFill>
                <a:latin typeface="Oswald"/>
                <a:ea typeface="Oswald"/>
                <a:cs typeface="Oswald"/>
                <a:sym typeface="Oswald"/>
              </a:rPr>
              <a:t>INTRODUCTION: Research Gaps</a:t>
            </a:r>
            <a:endParaRPr sz="2300" b="1">
              <a:solidFill>
                <a:srgbClr val="F8CF2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510450" y="984075"/>
            <a:ext cx="646800" cy="1113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BA8EB"/>
              </a:solidFill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363900" y="1473300"/>
            <a:ext cx="5927400" cy="28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Pedagogical Blindness: </a:t>
            </a:r>
            <a:r>
              <a:rPr lang="en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Standard RAG retrieves content matching semantic queries but ignores learner cognitive preferences, e.g., text-heavy proofs for visual learners.</a:t>
            </a:r>
            <a:endParaRPr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No Validated Testbed: </a:t>
            </a:r>
            <a:r>
              <a:rPr lang="en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Lack of robust simulation-based testbeds with virtual student agents that reliably reflect FSLSM learning styles for empirical evaluation.</a:t>
            </a:r>
            <a:endParaRPr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b="1">
                <a:solidFill>
                  <a:schemeClr val="dk1"/>
                </a:solidFill>
              </a:rPr>
              <a:t>MCP Tool Selection: </a:t>
            </a:r>
            <a:r>
              <a:rPr lang="en" sz="1200">
                <a:solidFill>
                  <a:schemeClr val="dk1"/>
                </a:solidFill>
              </a:rPr>
              <a:t>Persona + retrieval approaches exist, but are </a:t>
            </a:r>
            <a:r>
              <a:rPr lang="en" sz="1200" b="1">
                <a:solidFill>
                  <a:schemeClr val="dk1"/>
                </a:solidFill>
              </a:rPr>
              <a:t>limited</a:t>
            </a:r>
            <a:r>
              <a:rPr lang="en" sz="1200">
                <a:solidFill>
                  <a:schemeClr val="dk1"/>
                </a:solidFill>
              </a:rPr>
              <a:t> and rarely use </a:t>
            </a:r>
            <a:r>
              <a:rPr lang="en" sz="1200" b="1">
                <a:solidFill>
                  <a:schemeClr val="dk1"/>
                </a:solidFill>
              </a:rPr>
              <a:t>scalable MCP tool protocols</a:t>
            </a:r>
            <a:r>
              <a:rPr lang="en" sz="1200">
                <a:solidFill>
                  <a:schemeClr val="dk1"/>
                </a:solidFill>
              </a:rPr>
              <a:t> for FSLSM-based adaptation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</p:txBody>
      </p:sp>
      <p:sp>
        <p:nvSpPr>
          <p:cNvPr id="112" name="Google Shape;112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113" name="Google Shape;113;p16"/>
          <p:cNvPicPr preferRelativeResize="0"/>
          <p:nvPr/>
        </p:nvPicPr>
        <p:blipFill rotWithShape="1">
          <a:blip r:embed="rId3">
            <a:alphaModFix/>
          </a:blip>
          <a:srcRect l="6660" t="14036" r="13671" b="12553"/>
          <a:stretch/>
        </p:blipFill>
        <p:spPr>
          <a:xfrm>
            <a:off x="6291300" y="1600331"/>
            <a:ext cx="2562025" cy="234649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/>
          <p:nvPr/>
        </p:nvSpPr>
        <p:spPr>
          <a:xfrm>
            <a:off x="418025" y="468350"/>
            <a:ext cx="49368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252827"/>
                </a:solidFill>
                <a:latin typeface="Oswald"/>
                <a:ea typeface="Oswald"/>
                <a:cs typeface="Oswald"/>
                <a:sym typeface="Oswald"/>
              </a:rPr>
              <a:t>1.1 RESEARCH QUESTIONS</a:t>
            </a:r>
            <a:endParaRPr sz="2300" b="1">
              <a:solidFill>
                <a:srgbClr val="F8CF2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9" name="Google Shape;11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510450" y="984075"/>
            <a:ext cx="646800" cy="1113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BA8EB"/>
              </a:solidFill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363900" y="1298000"/>
            <a:ext cx="8579400" cy="1056300"/>
          </a:xfrm>
          <a:prstGeom prst="roundRect">
            <a:avLst>
              <a:gd name="adj" fmla="val 5173"/>
            </a:avLst>
          </a:prstGeom>
          <a:solidFill>
            <a:srgbClr val="F3F3F3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363900" y="2422400"/>
            <a:ext cx="8579400" cy="1056300"/>
          </a:xfrm>
          <a:prstGeom prst="roundRect">
            <a:avLst>
              <a:gd name="adj" fmla="val 5173"/>
            </a:avLst>
          </a:prstGeom>
          <a:solidFill>
            <a:srgbClr val="F3F3F3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363900" y="3553613"/>
            <a:ext cx="8579400" cy="1056300"/>
          </a:xfrm>
          <a:prstGeom prst="roundRect">
            <a:avLst>
              <a:gd name="adj" fmla="val 5173"/>
            </a:avLst>
          </a:prstGeom>
          <a:solidFill>
            <a:srgbClr val="F3F3F3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7"/>
          <p:cNvSpPr/>
          <p:nvPr/>
        </p:nvSpPr>
        <p:spPr>
          <a:xfrm>
            <a:off x="363900" y="1291175"/>
            <a:ext cx="1032900" cy="1056300"/>
          </a:xfrm>
          <a:prstGeom prst="roundRect">
            <a:avLst>
              <a:gd name="adj" fmla="val 5173"/>
            </a:avLst>
          </a:prstGeom>
          <a:solidFill>
            <a:schemeClr val="accent4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RQ1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lt2"/>
                </a:solidFill>
              </a:rPr>
              <a:t>Tutor Efficacy</a:t>
            </a:r>
            <a:endParaRPr sz="900">
              <a:solidFill>
                <a:schemeClr val="lt2"/>
              </a:solidFill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363900" y="2425813"/>
            <a:ext cx="1032900" cy="1056300"/>
          </a:xfrm>
          <a:prstGeom prst="roundRect">
            <a:avLst>
              <a:gd name="adj" fmla="val 5173"/>
            </a:avLst>
          </a:prstGeom>
          <a:solidFill>
            <a:schemeClr val="accent5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RQ2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Agent Fidelity</a:t>
            </a:r>
            <a:endParaRPr sz="9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363900" y="3553638"/>
            <a:ext cx="1032900" cy="1056300"/>
          </a:xfrm>
          <a:prstGeom prst="roundRect">
            <a:avLst>
              <a:gd name="adj" fmla="val 5173"/>
            </a:avLst>
          </a:prstGeom>
          <a:solidFill>
            <a:srgbClr val="0B5394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RQ3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2"/>
                </a:solidFill>
              </a:rPr>
              <a:t>System Efficiency</a:t>
            </a:r>
            <a:endParaRPr sz="8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1572000" y="1454400"/>
            <a:ext cx="6967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1497600" y="1541800"/>
            <a:ext cx="72864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To what extent does FSLSM-based personalization in the PersonaRAG tutoring system improve response relevance and style conformance compared to a non-personalized RAG baseline?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1497600" y="2661450"/>
            <a:ext cx="72864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How can virtual LLM student agents be built to consistently reflect distinct FSLSM profiles, while ensuring their behavioral fidelity is validated as a testbed for adaptive tutoring evaluation?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1497600" y="3778463"/>
            <a:ext cx="72864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To what extent does FSLSM-conditioned MCP tool selection improve pedagogical tool appropriateness compared to unconditioned tool selection, and what is the associated efficiency trade-off?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/>
          <p:nvPr/>
        </p:nvSpPr>
        <p:spPr>
          <a:xfrm>
            <a:off x="418025" y="468350"/>
            <a:ext cx="49368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>
                <a:solidFill>
                  <a:srgbClr val="252827"/>
                </a:solidFill>
                <a:latin typeface="Oswald"/>
                <a:ea typeface="Oswald"/>
                <a:cs typeface="Oswald"/>
                <a:sym typeface="Oswald"/>
              </a:rPr>
              <a:t>1.2 HYPOTHESIS</a:t>
            </a:r>
            <a:endParaRPr sz="2300" b="1">
              <a:solidFill>
                <a:srgbClr val="F8CF2C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 b="1">
              <a:solidFill>
                <a:srgbClr val="252827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6" name="Google Shape;136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510450" y="984075"/>
            <a:ext cx="646800" cy="1113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BA8EB"/>
              </a:solidFill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363900" y="1298000"/>
            <a:ext cx="8579400" cy="1056300"/>
          </a:xfrm>
          <a:prstGeom prst="roundRect">
            <a:avLst>
              <a:gd name="adj" fmla="val 5173"/>
            </a:avLst>
          </a:prstGeom>
          <a:solidFill>
            <a:srgbClr val="F3F3F3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363900" y="2422400"/>
            <a:ext cx="8579400" cy="1056300"/>
          </a:xfrm>
          <a:prstGeom prst="roundRect">
            <a:avLst>
              <a:gd name="adj" fmla="val 5173"/>
            </a:avLst>
          </a:prstGeom>
          <a:solidFill>
            <a:srgbClr val="F3F3F3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363900" y="3553613"/>
            <a:ext cx="8579400" cy="1056300"/>
          </a:xfrm>
          <a:prstGeom prst="roundRect">
            <a:avLst>
              <a:gd name="adj" fmla="val 5173"/>
            </a:avLst>
          </a:prstGeom>
          <a:solidFill>
            <a:srgbClr val="F3F3F3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418025" y="1343149"/>
            <a:ext cx="944700" cy="9660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87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625" tIns="83625" rIns="83625" bIns="836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8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H1</a:t>
            </a:r>
            <a:endParaRPr sz="823">
              <a:solidFill>
                <a:schemeClr val="lt2"/>
              </a:solidFill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418025" y="2470959"/>
            <a:ext cx="944700" cy="9660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87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625" tIns="83625" rIns="83625" bIns="836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8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H2</a:t>
            </a:r>
            <a:endParaRPr sz="823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418025" y="3591939"/>
            <a:ext cx="944700" cy="966000"/>
          </a:xfrm>
          <a:prstGeom prst="roundRect">
            <a:avLst>
              <a:gd name="adj" fmla="val 50000"/>
            </a:avLst>
          </a:prstGeom>
          <a:solidFill>
            <a:srgbClr val="0B5394"/>
          </a:solidFill>
          <a:ln w="87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625" tIns="83625" rIns="83625" bIns="836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8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H3</a:t>
            </a:r>
            <a:endParaRPr sz="731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1572000" y="1454400"/>
            <a:ext cx="6967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1497725" y="1719183"/>
            <a:ext cx="7286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FSLSM-based personalization yields statistically significant improvements in response relevance and style conformance vs. baseline, measured by similarity to style-specific guidelines.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 txBox="1"/>
          <p:nvPr/>
        </p:nvSpPr>
        <p:spPr>
          <a:xfrm>
            <a:off x="1497600" y="2881375"/>
            <a:ext cx="7286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Virtual LLM agents with structured FSLSM profiles demonstrate consistent behavioral patterns aligning with ILS dimensions, with performance scaling with model capability.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1497600" y="4009385"/>
            <a:ext cx="7286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FSLSM-conditioned MCP tool selection significantly reduces prompt token usage while maintaining or enhancing retrieval accuracy vs. standard RAG.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1497600" y="1299625"/>
            <a:ext cx="7360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Personalization Improves Conformance</a:t>
            </a:r>
            <a:endParaRPr b="1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1497600" y="2417738"/>
            <a:ext cx="30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Agent Fidelity Scales with Capability</a:t>
            </a:r>
            <a:endParaRPr b="1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1497600" y="3602200"/>
            <a:ext cx="5731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MCP Reduces Bloat and Maintains Quality</a:t>
            </a:r>
            <a:endParaRPr b="1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/>
          <p:nvPr/>
        </p:nvSpPr>
        <p:spPr>
          <a:xfrm>
            <a:off x="363900" y="1167575"/>
            <a:ext cx="8513850" cy="3619110"/>
          </a:xfrm>
          <a:prstGeom prst="roundRect">
            <a:avLst>
              <a:gd name="adj" fmla="val 5173"/>
            </a:avLst>
          </a:prstGeom>
          <a:solidFill>
            <a:srgbClr val="F3F3F3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418025" y="468350"/>
            <a:ext cx="49368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252827"/>
                </a:solidFill>
                <a:latin typeface="Oswald"/>
                <a:ea typeface="Oswald"/>
                <a:cs typeface="Oswald"/>
                <a:sym typeface="Oswald"/>
              </a:rPr>
              <a:t>1.3 OBJECTIVES </a:t>
            </a:r>
            <a:endParaRPr sz="2300" b="1">
              <a:solidFill>
                <a:srgbClr val="F8CF2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510450" y="1118600"/>
            <a:ext cx="8367300" cy="32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To design, implement, and evaluate an AI tutoring framework that leverages RAG-MCP to adapt educational content dynamically based on FSLSM learning styles, with efficacy validated through simulations involving virtual student LLM agents.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To develop a hybrid RAG-MCP pipeline that incorporates personalized learning-style parameters , enabling efficient and relevant retrieval of adaptive resources, and to measure its impact on retrieval metrics like latency and alignment.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To encode FSLSM learning-style profiles into virtual LLM agents, facilitating personalized instructional actions, and to assess the resulting adaptability through simulation-based metrics such as response fidelity and engagement scores.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To investigate the effects of LLM model size and MCP tool-set complexity on key performance indicators, using ablation studies and benchmarks to identify optimal configurations for educational applications.</a:t>
            </a:r>
            <a:endParaRPr sz="1200" dirty="0">
              <a:solidFill>
                <a:schemeClr val="dk1"/>
              </a:solidFill>
            </a:endParaRPr>
          </a:p>
        </p:txBody>
      </p:sp>
      <p:sp>
        <p:nvSpPr>
          <p:cNvPr id="158" name="Google Shape;158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510450" y="984075"/>
            <a:ext cx="646800" cy="1113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BA8EB"/>
              </a:solidFill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621526" y="2383574"/>
            <a:ext cx="288900" cy="295200"/>
          </a:xfrm>
          <a:prstGeom prst="roundRect">
            <a:avLst>
              <a:gd name="adj" fmla="val 50000"/>
            </a:avLst>
          </a:prstGeom>
          <a:solidFill>
            <a:srgbClr val="0B5394"/>
          </a:solidFill>
          <a:ln w="87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625" tIns="83625" rIns="83625" bIns="836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1" dirty="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131" dirty="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638086" y="3227973"/>
            <a:ext cx="288900" cy="295200"/>
          </a:xfrm>
          <a:prstGeom prst="roundRect">
            <a:avLst>
              <a:gd name="adj" fmla="val 50000"/>
            </a:avLst>
          </a:prstGeom>
          <a:solidFill>
            <a:srgbClr val="0B5394"/>
          </a:solidFill>
          <a:ln w="87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625" tIns="83625" rIns="83625" bIns="836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1" dirty="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1131" dirty="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650015" y="4067700"/>
            <a:ext cx="288900" cy="295200"/>
          </a:xfrm>
          <a:prstGeom prst="roundRect">
            <a:avLst>
              <a:gd name="adj" fmla="val 50000"/>
            </a:avLst>
          </a:prstGeom>
          <a:solidFill>
            <a:srgbClr val="0B5394"/>
          </a:solidFill>
          <a:ln w="87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625" tIns="83625" rIns="83625" bIns="836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1" dirty="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1131" dirty="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0"/>
          <p:cNvSpPr/>
          <p:nvPr/>
        </p:nvSpPr>
        <p:spPr>
          <a:xfrm>
            <a:off x="363900" y="1167575"/>
            <a:ext cx="8579400" cy="3342900"/>
          </a:xfrm>
          <a:prstGeom prst="roundRect">
            <a:avLst>
              <a:gd name="adj" fmla="val 5173"/>
            </a:avLst>
          </a:prstGeom>
          <a:solidFill>
            <a:srgbClr val="F3F3F3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418025" y="468350"/>
            <a:ext cx="49896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252827"/>
                </a:solidFill>
                <a:latin typeface="Oswald"/>
                <a:ea typeface="Oswald"/>
                <a:cs typeface="Oswald"/>
                <a:sym typeface="Oswald"/>
              </a:rPr>
              <a:t>1.4 SCOPE &amp; LIMITATION</a:t>
            </a:r>
            <a:endParaRPr sz="2300" b="1">
              <a:solidFill>
                <a:srgbClr val="F8CF2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9" name="Google Shape;16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170" name="Google Shape;170;p20"/>
          <p:cNvSpPr/>
          <p:nvPr/>
        </p:nvSpPr>
        <p:spPr>
          <a:xfrm>
            <a:off x="510450" y="984075"/>
            <a:ext cx="646800" cy="1113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BA8EB"/>
              </a:solidFill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784325" y="1513575"/>
            <a:ext cx="3736800" cy="6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Domain: Introductory Machine Learning </a:t>
            </a:r>
            <a:endParaRPr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(D2L corpus)</a:t>
            </a:r>
            <a:endParaRPr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450" y="1597825"/>
            <a:ext cx="222300" cy="22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476000" y="1138846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Scope</a:t>
            </a:r>
            <a:endParaRPr/>
          </a:p>
        </p:txBody>
      </p:sp>
      <p:pic>
        <p:nvPicPr>
          <p:cNvPr id="174" name="Google Shape;17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450" y="2150913"/>
            <a:ext cx="222300" cy="22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450" y="2766963"/>
            <a:ext cx="222300" cy="22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450" y="3390038"/>
            <a:ext cx="222300" cy="22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782575" y="2069625"/>
            <a:ext cx="3969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FSLSM 4 dimensions with text-based visual scaffolding</a:t>
            </a:r>
            <a:endParaRPr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784325" y="2620650"/>
            <a:ext cx="3828600" cy="6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8–16 text-only MCP tools, mid-sized LLMs + API services</a:t>
            </a:r>
            <a:endParaRPr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812325" y="3285350"/>
            <a:ext cx="3289200" cy="6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80 virtual agents, multi-turn simulation validation</a:t>
            </a:r>
            <a:endParaRPr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721775" y="1118546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Limitation</a:t>
            </a:r>
            <a:endParaRPr/>
          </a:p>
        </p:txBody>
      </p:sp>
      <p:pic>
        <p:nvPicPr>
          <p:cNvPr id="181" name="Google Shape;18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8075" y="1554352"/>
            <a:ext cx="222300" cy="22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7525" y="2805477"/>
            <a:ext cx="222300" cy="22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8075" y="3390052"/>
            <a:ext cx="222300" cy="22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8075" y="4013127"/>
            <a:ext cx="222300" cy="22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5215850" y="1454625"/>
            <a:ext cx="3527100" cy="6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Virtual agents may not replicate real-world learner variability</a:t>
            </a:r>
            <a:endParaRPr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5197250" y="2069625"/>
            <a:ext cx="3828600" cy="6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D2L-specific; performance may differ in non-technical domains</a:t>
            </a:r>
            <a:endParaRPr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5215850" y="2716650"/>
            <a:ext cx="3736800" cy="6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Text-only visual adaptation (no multimodal image generation)</a:t>
            </a:r>
            <a:endParaRPr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5197250" y="3320700"/>
            <a:ext cx="3774000" cy="6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MCP latency and tool-chain security risks if unoptimized</a:t>
            </a:r>
            <a:endParaRPr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450" y="4013113"/>
            <a:ext cx="222300" cy="22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812325" y="3935700"/>
            <a:ext cx="3289200" cy="6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Multi-hop 5-chunk synthetic ground-truth dataset</a:t>
            </a:r>
            <a:endParaRPr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7525" y="2150914"/>
            <a:ext cx="222300" cy="22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5197250" y="3978688"/>
            <a:ext cx="3774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Circular evaluation risk (LLM-judge + agent)</a:t>
            </a:r>
            <a:endParaRPr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"/>
          <p:cNvSpPr txBox="1"/>
          <p:nvPr/>
        </p:nvSpPr>
        <p:spPr>
          <a:xfrm>
            <a:off x="418025" y="468350"/>
            <a:ext cx="80544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252827"/>
                </a:solidFill>
                <a:latin typeface="Oswald"/>
                <a:ea typeface="Oswald"/>
                <a:cs typeface="Oswald"/>
                <a:sym typeface="Oswald"/>
              </a:rPr>
              <a:t>2. RELATED WORK: Positioning in the Research Landscape</a:t>
            </a:r>
            <a:endParaRPr sz="2300" b="1">
              <a:solidFill>
                <a:srgbClr val="F8CF2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8" name="Google Shape;198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199" name="Google Shape;199;p21"/>
          <p:cNvSpPr/>
          <p:nvPr/>
        </p:nvSpPr>
        <p:spPr>
          <a:xfrm>
            <a:off x="510450" y="984075"/>
            <a:ext cx="646800" cy="1113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BA8EB"/>
              </a:solidFill>
            </a:endParaRPr>
          </a:p>
        </p:txBody>
      </p:sp>
      <p:graphicFrame>
        <p:nvGraphicFramePr>
          <p:cNvPr id="200" name="Google Shape;200;p21"/>
          <p:cNvGraphicFramePr/>
          <p:nvPr/>
        </p:nvGraphicFramePr>
        <p:xfrm>
          <a:off x="557975" y="1146175"/>
          <a:ext cx="8295425" cy="3567950"/>
        </p:xfrm>
        <a:graphic>
          <a:graphicData uri="http://schemas.openxmlformats.org/drawingml/2006/table">
            <a:tbl>
              <a:tblPr>
                <a:noFill/>
                <a:tableStyleId>{84B9D12A-2C3D-47DC-ADC3-D64EFF472797}</a:tableStyleId>
              </a:tblPr>
              <a:tblGrid>
                <a:gridCol w="1292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2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2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6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86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60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Criterion</a:t>
                      </a:r>
                      <a:endParaRPr sz="11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1B3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Sanyal et al.</a:t>
                      </a:r>
                      <a:endParaRPr sz="105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i="1">
                          <a:solidFill>
                            <a:srgbClr val="CAE9F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(2025)  Pedagogical</a:t>
                      </a:r>
                      <a:endParaRPr sz="900" i="1">
                        <a:solidFill>
                          <a:srgbClr val="CAE9F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Zerhoudi &amp;</a:t>
                      </a:r>
                      <a:endParaRPr sz="105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i="1">
                          <a:solidFill>
                            <a:srgbClr val="CAE9F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(2024)  PersonaRAG</a:t>
                      </a:r>
                      <a:endParaRPr sz="900" i="1">
                        <a:solidFill>
                          <a:srgbClr val="CAE9F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Gan &amp; Sun</a:t>
                      </a:r>
                      <a:endParaRPr sz="105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i="1">
                          <a:solidFill>
                            <a:srgbClr val="CAE9F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(2025)  Prompt Bloat</a:t>
                      </a:r>
                      <a:endParaRPr sz="900" i="1">
                        <a:solidFill>
                          <a:srgbClr val="CAE9F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Graf et al.</a:t>
                      </a:r>
                      <a:endParaRPr sz="105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i="1">
                          <a:solidFill>
                            <a:srgbClr val="CAE9F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(2007)  FSLSM</a:t>
                      </a:r>
                      <a:endParaRPr sz="900" i="1">
                        <a:solidFill>
                          <a:srgbClr val="CAE9F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Proposed:</a:t>
                      </a:r>
                      <a:endParaRPr sz="115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i="1">
                          <a:solidFill>
                            <a:srgbClr val="7DFFD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ALS-RAG-MCP  ★</a:t>
                      </a:r>
                      <a:endParaRPr sz="900" i="1">
                        <a:solidFill>
                          <a:srgbClr val="7DFFD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4E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6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FSLSM</a:t>
                      </a:r>
                      <a:endParaRPr sz="105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Integration</a:t>
                      </a:r>
                      <a:endParaRPr sz="105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2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</a:t>
                      </a:r>
                      <a:endParaRPr sz="1000">
                        <a:solidFill>
                          <a:srgbClr val="021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2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(VARK hybrid)</a:t>
                      </a:r>
                      <a:endParaRPr sz="1000">
                        <a:solidFill>
                          <a:srgbClr val="021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666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None</a:t>
                      </a:r>
                      <a:endParaRPr sz="1000">
                        <a:solidFill>
                          <a:srgbClr val="66666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666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(implicit profile)</a:t>
                      </a:r>
                      <a:endParaRPr sz="1000">
                        <a:solidFill>
                          <a:srgbClr val="66666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2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None</a:t>
                      </a:r>
                      <a:endParaRPr sz="1000">
                        <a:solidFill>
                          <a:srgbClr val="021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2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(style-agnostic)</a:t>
                      </a:r>
                      <a:endParaRPr sz="1000">
                        <a:solidFill>
                          <a:srgbClr val="021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2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Full 4-dim</a:t>
                      </a:r>
                      <a:endParaRPr sz="1000">
                        <a:solidFill>
                          <a:srgbClr val="021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2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(ILS survey)</a:t>
                      </a:r>
                      <a:endParaRPr sz="1000">
                        <a:solidFill>
                          <a:srgbClr val="021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>
                          <a:solidFill>
                            <a:srgbClr val="0135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Full binary ±1</a:t>
                      </a:r>
                      <a:endParaRPr sz="1050" b="1">
                        <a:solidFill>
                          <a:srgbClr val="01352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>
                          <a:solidFill>
                            <a:srgbClr val="0135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dimensions</a:t>
                      </a:r>
                      <a:endParaRPr sz="1050" b="1">
                        <a:solidFill>
                          <a:srgbClr val="01352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8ED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8ED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6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 Agent</a:t>
                      </a:r>
                      <a:endParaRPr sz="105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Simulation</a:t>
                      </a:r>
                      <a:endParaRPr sz="105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2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VARK-based</a:t>
                      </a:r>
                      <a:endParaRPr sz="1000">
                        <a:solidFill>
                          <a:srgbClr val="021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2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 personas</a:t>
                      </a:r>
                      <a:endParaRPr sz="1000">
                        <a:solidFill>
                          <a:srgbClr val="021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2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 user</a:t>
                      </a:r>
                      <a:endParaRPr sz="1000">
                        <a:solidFill>
                          <a:srgbClr val="021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2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behavior logs</a:t>
                      </a:r>
                      <a:endParaRPr sz="1000">
                        <a:solidFill>
                          <a:srgbClr val="021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9999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student</a:t>
                      </a:r>
                      <a:endParaRPr sz="1000">
                        <a:solidFill>
                          <a:srgbClr val="9999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9999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agent used</a:t>
                      </a:r>
                      <a:endParaRPr sz="1000">
                        <a:solidFill>
                          <a:srgbClr val="9999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2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Human students</a:t>
                      </a:r>
                      <a:endParaRPr sz="1000">
                        <a:solidFill>
                          <a:srgbClr val="021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2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ILS quest.</a:t>
                      </a:r>
                      <a:endParaRPr sz="1000">
                        <a:solidFill>
                          <a:srgbClr val="021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>
                          <a:solidFill>
                            <a:srgbClr val="0135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 LLM agents</a:t>
                      </a:r>
                      <a:endParaRPr sz="1050" b="1">
                        <a:solidFill>
                          <a:srgbClr val="01352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>
                          <a:solidFill>
                            <a:srgbClr val="0135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 profiles ×5</a:t>
                      </a:r>
                      <a:endParaRPr sz="1050" b="1">
                        <a:solidFill>
                          <a:srgbClr val="01352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8ED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8ED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8ED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6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RAG</a:t>
                      </a:r>
                      <a:endParaRPr sz="105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Personalization</a:t>
                      </a:r>
                      <a:endParaRPr sz="105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2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Genetic-algo</a:t>
                      </a:r>
                      <a:endParaRPr sz="1000">
                        <a:solidFill>
                          <a:srgbClr val="021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2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teacher adapt.</a:t>
                      </a:r>
                      <a:endParaRPr sz="1000">
                        <a:solidFill>
                          <a:srgbClr val="021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2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Persona-aware</a:t>
                      </a:r>
                      <a:endParaRPr sz="1000">
                        <a:solidFill>
                          <a:srgbClr val="021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2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retrieval layer</a:t>
                      </a:r>
                      <a:endParaRPr sz="1000">
                        <a:solidFill>
                          <a:srgbClr val="021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2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Semantic RAG</a:t>
                      </a:r>
                      <a:endParaRPr sz="1000">
                        <a:solidFill>
                          <a:srgbClr val="021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2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query only</a:t>
                      </a:r>
                      <a:endParaRPr sz="1000">
                        <a:solidFill>
                          <a:srgbClr val="021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666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None</a:t>
                      </a:r>
                      <a:endParaRPr sz="1000">
                        <a:solidFill>
                          <a:srgbClr val="66666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666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pre-RAG era</a:t>
                      </a:r>
                      <a:endParaRPr sz="1000">
                        <a:solidFill>
                          <a:srgbClr val="66666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>
                          <a:solidFill>
                            <a:srgbClr val="0135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FSLSM-conditioned</a:t>
                      </a:r>
                      <a:endParaRPr sz="1050" b="1">
                        <a:solidFill>
                          <a:srgbClr val="01352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>
                          <a:solidFill>
                            <a:srgbClr val="0135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RAG retrieval</a:t>
                      </a:r>
                      <a:endParaRPr sz="1050" b="1">
                        <a:solidFill>
                          <a:srgbClr val="01352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8ED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8ED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8ED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6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MCP Tool</a:t>
                      </a:r>
                      <a:endParaRPr sz="105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Selection</a:t>
                      </a:r>
                      <a:endParaRPr sz="105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9999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</a:t>
                      </a:r>
                      <a:endParaRPr sz="1000">
                        <a:solidFill>
                          <a:srgbClr val="9999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9999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applicable</a:t>
                      </a:r>
                      <a:endParaRPr sz="1000">
                        <a:solidFill>
                          <a:srgbClr val="9999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9999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</a:t>
                      </a:r>
                      <a:endParaRPr sz="1000">
                        <a:solidFill>
                          <a:srgbClr val="9999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9999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applicable</a:t>
                      </a:r>
                      <a:endParaRPr sz="1000">
                        <a:solidFill>
                          <a:srgbClr val="021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2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RAG-MCP</a:t>
                      </a:r>
                      <a:endParaRPr sz="1000">
                        <a:solidFill>
                          <a:srgbClr val="021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2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unconditioned</a:t>
                      </a:r>
                      <a:endParaRPr sz="1000">
                        <a:solidFill>
                          <a:srgbClr val="021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9999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</a:t>
                      </a:r>
                      <a:endParaRPr sz="1000">
                        <a:solidFill>
                          <a:srgbClr val="9999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9999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applicable</a:t>
                      </a:r>
                      <a:endParaRPr sz="1000">
                        <a:solidFill>
                          <a:srgbClr val="021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>
                          <a:solidFill>
                            <a:srgbClr val="0135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FSLSM-cond.</a:t>
                      </a:r>
                      <a:endParaRPr sz="1050" b="1">
                        <a:solidFill>
                          <a:srgbClr val="01352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>
                          <a:solidFill>
                            <a:srgbClr val="0135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RAG-MCP  k=1</a:t>
                      </a:r>
                      <a:endParaRPr sz="1050" b="1">
                        <a:solidFill>
                          <a:srgbClr val="01352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8ED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8ED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8ED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6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Evaluation</a:t>
                      </a:r>
                      <a:endParaRPr sz="105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Approach</a:t>
                      </a:r>
                      <a:endParaRPr sz="105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2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LLM-as-Judge</a:t>
                      </a:r>
                      <a:endParaRPr sz="1000">
                        <a:solidFill>
                          <a:srgbClr val="021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2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 human eval</a:t>
                      </a:r>
                      <a:endParaRPr sz="1000">
                        <a:solidFill>
                          <a:srgbClr val="021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2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ROUGE / NQ</a:t>
                      </a:r>
                      <a:endParaRPr sz="1000">
                        <a:solidFill>
                          <a:srgbClr val="021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2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TriviaQA</a:t>
                      </a:r>
                      <a:endParaRPr sz="1000">
                        <a:solidFill>
                          <a:srgbClr val="021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2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TSA + token</a:t>
                      </a:r>
                      <a:endParaRPr sz="1000">
                        <a:solidFill>
                          <a:srgbClr val="021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2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 metrics</a:t>
                      </a:r>
                      <a:endParaRPr sz="1000">
                        <a:solidFill>
                          <a:srgbClr val="021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2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ILS scoring</a:t>
                      </a:r>
                      <a:endParaRPr sz="1000">
                        <a:solidFill>
                          <a:srgbClr val="021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2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 LDA analysis</a:t>
                      </a:r>
                      <a:endParaRPr sz="1000">
                        <a:solidFill>
                          <a:srgbClr val="021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>
                          <a:solidFill>
                            <a:srgbClr val="0135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SCS · PRA · TSA · </a:t>
                      </a:r>
                      <a:endParaRPr sz="1050" b="1">
                        <a:solidFill>
                          <a:srgbClr val="01352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>
                          <a:solidFill>
                            <a:srgbClr val="0135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LLM-as-Judge</a:t>
                      </a:r>
                      <a:endParaRPr sz="1050" b="1">
                        <a:solidFill>
                          <a:srgbClr val="01352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8ED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8ED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8ED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86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Gap</a:t>
                      </a:r>
                      <a:endParaRPr sz="105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Addressed</a:t>
                      </a:r>
                      <a:endParaRPr sz="105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02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Static student</a:t>
                      </a:r>
                      <a:endParaRPr sz="1000" b="1">
                        <a:solidFill>
                          <a:srgbClr val="021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02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profiles</a:t>
                      </a:r>
                      <a:endParaRPr sz="1000" b="1">
                        <a:solidFill>
                          <a:srgbClr val="021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02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Style-blind</a:t>
                      </a:r>
                      <a:endParaRPr sz="1000" b="1">
                        <a:solidFill>
                          <a:srgbClr val="021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02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retrieval</a:t>
                      </a:r>
                      <a:endParaRPr sz="1000" b="1">
                        <a:solidFill>
                          <a:srgbClr val="021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02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Prompt bloat</a:t>
                      </a:r>
                      <a:endParaRPr sz="1000" b="1">
                        <a:solidFill>
                          <a:srgbClr val="021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02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tool selection</a:t>
                      </a:r>
                      <a:endParaRPr sz="1000" b="1">
                        <a:solidFill>
                          <a:srgbClr val="021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02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Profile encoding</a:t>
                      </a:r>
                      <a:endParaRPr sz="1000" b="1">
                        <a:solidFill>
                          <a:srgbClr val="021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02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granularity</a:t>
                      </a:r>
                      <a:endParaRPr sz="1000" b="1">
                        <a:solidFill>
                          <a:srgbClr val="021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>
                          <a:solidFill>
                            <a:srgbClr val="0135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Combination of all gaps</a:t>
                      </a:r>
                      <a:endParaRPr sz="1050" b="1">
                        <a:solidFill>
                          <a:srgbClr val="01352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>
                          <a:solidFill>
                            <a:srgbClr val="0135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★</a:t>
                      </a:r>
                      <a:endParaRPr sz="1050" b="1">
                        <a:solidFill>
                          <a:srgbClr val="01352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D0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8ED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8ED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8ED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2"/>
          <p:cNvSpPr/>
          <p:nvPr/>
        </p:nvSpPr>
        <p:spPr>
          <a:xfrm>
            <a:off x="195950" y="1182650"/>
            <a:ext cx="4506600" cy="3480600"/>
          </a:xfrm>
          <a:prstGeom prst="roundRect">
            <a:avLst>
              <a:gd name="adj" fmla="val 5173"/>
            </a:avLst>
          </a:prstGeom>
          <a:solidFill>
            <a:srgbClr val="F3F3F3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418025" y="468350"/>
            <a:ext cx="49023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252827"/>
                </a:solidFill>
                <a:latin typeface="Oswald"/>
                <a:ea typeface="Oswald"/>
                <a:cs typeface="Oswald"/>
                <a:sym typeface="Oswald"/>
              </a:rPr>
              <a:t>2.1 Learning Styles (FSLSM)</a:t>
            </a:r>
            <a:endParaRPr sz="2300" b="1">
              <a:solidFill>
                <a:srgbClr val="252827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7" name="Google Shape;207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510450" y="984075"/>
            <a:ext cx="646800" cy="1113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BA8EB"/>
              </a:solidFill>
            </a:endParaRPr>
          </a:p>
        </p:txBody>
      </p:sp>
      <p:pic>
        <p:nvPicPr>
          <p:cNvPr id="209" name="Google Shape;209;p22" title="Screenshot 2025-11-21 at 21.15.00.png"/>
          <p:cNvPicPr preferRelativeResize="0"/>
          <p:nvPr/>
        </p:nvPicPr>
        <p:blipFill rotWithShape="1">
          <a:blip r:embed="rId3">
            <a:alphaModFix/>
          </a:blip>
          <a:srcRect t="1768"/>
          <a:stretch/>
        </p:blipFill>
        <p:spPr>
          <a:xfrm>
            <a:off x="4867100" y="2976351"/>
            <a:ext cx="3828040" cy="17681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10" name="Google Shape;210;p22" title="Screenshot 2025-11-22 at 14.33.47.png"/>
          <p:cNvPicPr preferRelativeResize="0"/>
          <p:nvPr/>
        </p:nvPicPr>
        <p:blipFill rotWithShape="1">
          <a:blip r:embed="rId4">
            <a:alphaModFix/>
          </a:blip>
          <a:srcRect t="39221" b="4741"/>
          <a:stretch/>
        </p:blipFill>
        <p:spPr>
          <a:xfrm>
            <a:off x="4867100" y="1182650"/>
            <a:ext cx="3828049" cy="1733399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11" name="Google Shape;211;p22"/>
          <p:cNvSpPr txBox="1"/>
          <p:nvPr/>
        </p:nvSpPr>
        <p:spPr>
          <a:xfrm>
            <a:off x="302150" y="1285050"/>
            <a:ext cx="4294200" cy="12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065A82"/>
                </a:solidFill>
              </a:rPr>
              <a:t>FSLSM Questionnaire (Index of Learning Styles - ILS)</a:t>
            </a:r>
            <a:endParaRPr sz="1100" b="1">
              <a:solidFill>
                <a:srgbClr val="065A8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 </a:t>
            </a:r>
            <a:r>
              <a:rPr lang="en" sz="1100" b="1">
                <a:solidFill>
                  <a:schemeClr val="dk1"/>
                </a:solidFill>
              </a:rPr>
              <a:t>ILS Questionnaire</a:t>
            </a:r>
            <a:r>
              <a:rPr lang="en" sz="1100">
                <a:solidFill>
                  <a:schemeClr val="dk1"/>
                </a:solidFill>
              </a:rPr>
              <a:t> identifies individual preferences based on the four FSLSM dimensions. Respondents answer 44 questions with choices that determine their learning style on a +11 to -11 scale</a:t>
            </a:r>
            <a:endParaRPr sz="1100" b="1">
              <a:solidFill>
                <a:schemeClr val="dk1"/>
              </a:solidFill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277675" y="2571750"/>
            <a:ext cx="4294200" cy="20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065A82"/>
                </a:solidFill>
              </a:rPr>
              <a:t>FSLSM Dimensions</a:t>
            </a:r>
            <a:endParaRPr sz="1100" b="1">
              <a:solidFill>
                <a:srgbClr val="065A8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 b="1">
                <a:solidFill>
                  <a:schemeClr val="dk1"/>
                </a:solidFill>
              </a:rPr>
              <a:t>Active vs. Reflective</a:t>
            </a:r>
            <a:r>
              <a:rPr lang="en" sz="1100">
                <a:solidFill>
                  <a:schemeClr val="dk1"/>
                </a:solidFill>
              </a:rPr>
              <a:t>: Group discussion, hands-on learning vs. solitary reflection.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 b="1">
                <a:solidFill>
                  <a:schemeClr val="dk1"/>
                </a:solidFill>
              </a:rPr>
              <a:t>Sensing vs. Intuitive</a:t>
            </a:r>
            <a:r>
              <a:rPr lang="en" sz="1100">
                <a:solidFill>
                  <a:schemeClr val="dk1"/>
                </a:solidFill>
              </a:rPr>
              <a:t>: Concrete facts and details vs. abstract concepts and theories.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 b="1">
                <a:solidFill>
                  <a:schemeClr val="dk1"/>
                </a:solidFill>
              </a:rPr>
              <a:t>Visual vs. Verbal</a:t>
            </a:r>
            <a:r>
              <a:rPr lang="en" sz="1100">
                <a:solidFill>
                  <a:schemeClr val="dk1"/>
                </a:solidFill>
              </a:rPr>
              <a:t>: Preference for diagrams vs. spoken or written explanations.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 b="1">
                <a:solidFill>
                  <a:schemeClr val="dk1"/>
                </a:solidFill>
              </a:rPr>
              <a:t>Sequential vs. Global</a:t>
            </a:r>
            <a:r>
              <a:rPr lang="en" sz="1100">
                <a:solidFill>
                  <a:schemeClr val="dk1"/>
                </a:solidFill>
              </a:rPr>
              <a:t>: Step-by-step learning vs. grasping the overall picture first.</a:t>
            </a:r>
            <a:endParaRPr sz="1100" b="1">
              <a:solidFill>
                <a:schemeClr val="dk1"/>
              </a:solidFill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330575" y="4804800"/>
            <a:ext cx="9174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/>
              <a:t>Soloman, B. A., &amp; Felder, R. M. (n.d.):</a:t>
            </a:r>
            <a:r>
              <a:rPr lang="en" sz="1000"/>
              <a:t> Index of learning styles questionnaire. North Carolina State University.</a:t>
            </a:r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"/>
          <p:cNvSpPr/>
          <p:nvPr/>
        </p:nvSpPr>
        <p:spPr>
          <a:xfrm>
            <a:off x="2887000" y="1095375"/>
            <a:ext cx="3476400" cy="3443700"/>
          </a:xfrm>
          <a:prstGeom prst="roundRect">
            <a:avLst>
              <a:gd name="adj" fmla="val 5173"/>
            </a:avLst>
          </a:prstGeom>
          <a:solidFill>
            <a:srgbClr val="F3F3F3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418025" y="468350"/>
            <a:ext cx="49023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252827"/>
                </a:solidFill>
                <a:latin typeface="Oswald"/>
                <a:ea typeface="Oswald"/>
                <a:cs typeface="Oswald"/>
                <a:sym typeface="Oswald"/>
              </a:rPr>
              <a:t>2.2 Learning Styles (FSLSM)</a:t>
            </a:r>
            <a:endParaRPr sz="2300" b="1">
              <a:solidFill>
                <a:srgbClr val="252827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0" name="Google Shape;220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221" name="Google Shape;221;p23"/>
          <p:cNvSpPr/>
          <p:nvPr/>
        </p:nvSpPr>
        <p:spPr>
          <a:xfrm>
            <a:off x="510450" y="984075"/>
            <a:ext cx="646800" cy="1113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BA8EB"/>
              </a:solidFill>
            </a:endParaRPr>
          </a:p>
        </p:txBody>
      </p:sp>
      <p:pic>
        <p:nvPicPr>
          <p:cNvPr id="222" name="Google Shape;2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9063" y="1266236"/>
            <a:ext cx="3265873" cy="3222799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3"/>
          <p:cNvSpPr txBox="1"/>
          <p:nvPr/>
        </p:nvSpPr>
        <p:spPr>
          <a:xfrm>
            <a:off x="227500" y="1360650"/>
            <a:ext cx="25533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  <a:highlight>
                  <a:schemeClr val="lt1"/>
                </a:highlight>
              </a:rPr>
              <a:t>Original Index</a:t>
            </a:r>
            <a:endParaRPr sz="1350" b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44 Question of index between -11 to +11 or a11 to b11 for each dimension</a:t>
            </a:r>
            <a:endParaRPr sz="1350" b="1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224" name="Google Shape;224;p23"/>
          <p:cNvSpPr txBox="1"/>
          <p:nvPr/>
        </p:nvSpPr>
        <p:spPr>
          <a:xfrm>
            <a:off x="212800" y="2362775"/>
            <a:ext cx="2582700" cy="9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dk1"/>
                </a:solidFill>
                <a:highlight>
                  <a:schemeClr val="lt1"/>
                </a:highlight>
              </a:rPr>
              <a:t>Compromised Version</a:t>
            </a:r>
            <a:endParaRPr sz="1350" b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Fewer Question for each index and measure as +/-3 strong, +/-2 moderate, and +/-1 balance.</a:t>
            </a:r>
            <a:endParaRPr sz="1350" b="1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225" name="Google Shape;225;p23"/>
          <p:cNvSpPr txBox="1"/>
          <p:nvPr/>
        </p:nvSpPr>
        <p:spPr>
          <a:xfrm>
            <a:off x="212800" y="3511700"/>
            <a:ext cx="2674200" cy="11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dk1"/>
                </a:solidFill>
                <a:highlight>
                  <a:schemeClr val="lt1"/>
                </a:highlight>
              </a:rPr>
              <a:t>Minimum Version</a:t>
            </a:r>
            <a:endParaRPr sz="1350" b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Fewer Question for each index and measure as Active, Balanced or Reflective. 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i.e., Active or Reflective</a:t>
            </a:r>
            <a:endParaRPr sz="1350" b="1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226" name="Google Shape;226;p23"/>
          <p:cNvSpPr txBox="1"/>
          <p:nvPr/>
        </p:nvSpPr>
        <p:spPr>
          <a:xfrm>
            <a:off x="6363193" y="1388475"/>
            <a:ext cx="2523600" cy="8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solidFill>
                  <a:schemeClr val="dk1"/>
                </a:solidFill>
                <a:highlight>
                  <a:schemeClr val="lt1"/>
                </a:highlight>
              </a:rPr>
              <a:t>Score Range: </a:t>
            </a:r>
            <a:r>
              <a:rPr lang="en" sz="700">
                <a:solidFill>
                  <a:schemeClr val="dk1"/>
                </a:solidFill>
                <a:highlight>
                  <a:schemeClr val="lt1"/>
                </a:highlight>
              </a:rPr>
              <a:t>-11, -9, -7, -5, -3, -1, +1, +3, +5, +7, +9, +11</a:t>
            </a:r>
            <a:endParaRPr sz="7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700" b="1">
                <a:solidFill>
                  <a:schemeClr val="dk1"/>
                </a:solidFill>
                <a:highlight>
                  <a:schemeClr val="lt1"/>
                </a:highlight>
              </a:rPr>
              <a:t>Scores per dimension: 12</a:t>
            </a:r>
            <a:endParaRPr sz="700" b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700" b="1">
                <a:solidFill>
                  <a:schemeClr val="dk1"/>
                </a:solidFill>
                <a:highlight>
                  <a:schemeClr val="lt1"/>
                </a:highlight>
              </a:rPr>
              <a:t>Number of Dimension: 4</a:t>
            </a:r>
            <a:endParaRPr sz="700" b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700" b="1">
                <a:solidFill>
                  <a:schemeClr val="dk1"/>
                </a:solidFill>
                <a:highlight>
                  <a:schemeClr val="lt1"/>
                </a:highlight>
              </a:rPr>
              <a:t>Total Combination</a:t>
            </a:r>
            <a:r>
              <a:rPr lang="en" sz="700">
                <a:solidFill>
                  <a:schemeClr val="dk1"/>
                </a:solidFill>
                <a:highlight>
                  <a:schemeClr val="lt1"/>
                </a:highlight>
              </a:rPr>
              <a:t>: 20,736</a:t>
            </a:r>
            <a:endParaRPr sz="7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700">
                <a:solidFill>
                  <a:schemeClr val="dk1"/>
                </a:solidFill>
                <a:highlight>
                  <a:schemeClr val="lt1"/>
                </a:highlight>
              </a:rPr>
              <a:t>Active/Reflective = -11</a:t>
            </a:r>
            <a:endParaRPr sz="7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227" name="Google Shape;227;p23"/>
          <p:cNvSpPr txBox="1"/>
          <p:nvPr/>
        </p:nvSpPr>
        <p:spPr>
          <a:xfrm>
            <a:off x="6363193" y="2467275"/>
            <a:ext cx="2523600" cy="8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solidFill>
                  <a:schemeClr val="dk1"/>
                </a:solidFill>
                <a:highlight>
                  <a:schemeClr val="lt1"/>
                </a:highlight>
              </a:rPr>
              <a:t>Score Range: </a:t>
            </a:r>
            <a:r>
              <a:rPr lang="en" sz="700">
                <a:solidFill>
                  <a:schemeClr val="dk1"/>
                </a:solidFill>
                <a:highlight>
                  <a:schemeClr val="lt1"/>
                </a:highlight>
              </a:rPr>
              <a:t>-3, -2, -1, 1, 2, 3 </a:t>
            </a:r>
            <a:endParaRPr sz="7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700" b="1">
                <a:solidFill>
                  <a:schemeClr val="dk1"/>
                </a:solidFill>
                <a:highlight>
                  <a:schemeClr val="lt1"/>
                </a:highlight>
              </a:rPr>
              <a:t>Scores per dimension: 6, or 3</a:t>
            </a:r>
            <a:endParaRPr sz="700" b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700" b="1">
                <a:solidFill>
                  <a:schemeClr val="dk1"/>
                </a:solidFill>
                <a:highlight>
                  <a:schemeClr val="lt1"/>
                </a:highlight>
              </a:rPr>
              <a:t>Number of Dimension: 4</a:t>
            </a:r>
            <a:endParaRPr sz="700" b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700" b="1">
                <a:solidFill>
                  <a:schemeClr val="dk1"/>
                </a:solidFill>
                <a:highlight>
                  <a:schemeClr val="lt1"/>
                </a:highlight>
              </a:rPr>
              <a:t>Total Combination</a:t>
            </a:r>
            <a:r>
              <a:rPr lang="en" sz="700">
                <a:solidFill>
                  <a:schemeClr val="dk1"/>
                </a:solidFill>
                <a:highlight>
                  <a:schemeClr val="lt1"/>
                </a:highlight>
              </a:rPr>
              <a:t>: 1,296, or 81</a:t>
            </a:r>
            <a:endParaRPr sz="7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700">
                <a:solidFill>
                  <a:schemeClr val="dk1"/>
                </a:solidFill>
                <a:highlight>
                  <a:schemeClr val="lt1"/>
                </a:highlight>
              </a:rPr>
              <a:t>Active/Reflective = -2</a:t>
            </a:r>
            <a:endParaRPr sz="7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228" name="Google Shape;228;p23"/>
          <p:cNvSpPr txBox="1"/>
          <p:nvPr/>
        </p:nvSpPr>
        <p:spPr>
          <a:xfrm>
            <a:off x="6363193" y="3546075"/>
            <a:ext cx="2523600" cy="8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solidFill>
                  <a:schemeClr val="dk1"/>
                </a:solidFill>
                <a:highlight>
                  <a:schemeClr val="lt1"/>
                </a:highlight>
              </a:rPr>
              <a:t>Score Range: </a:t>
            </a:r>
            <a:r>
              <a:rPr lang="en" sz="700">
                <a:solidFill>
                  <a:schemeClr val="dk1"/>
                </a:solidFill>
                <a:highlight>
                  <a:schemeClr val="lt1"/>
                </a:highlight>
              </a:rPr>
              <a:t>-1,+1</a:t>
            </a:r>
            <a:endParaRPr sz="7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700" b="1">
                <a:solidFill>
                  <a:schemeClr val="dk1"/>
                </a:solidFill>
                <a:highlight>
                  <a:schemeClr val="lt1"/>
                </a:highlight>
              </a:rPr>
              <a:t>Scores per dimension: 2</a:t>
            </a:r>
            <a:endParaRPr sz="700" b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700" b="1">
                <a:solidFill>
                  <a:schemeClr val="dk1"/>
                </a:solidFill>
                <a:highlight>
                  <a:schemeClr val="lt1"/>
                </a:highlight>
              </a:rPr>
              <a:t>Number of Dimension: 4</a:t>
            </a:r>
            <a:endParaRPr sz="700" b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700" b="1">
                <a:solidFill>
                  <a:schemeClr val="dk1"/>
                </a:solidFill>
                <a:highlight>
                  <a:schemeClr val="lt1"/>
                </a:highlight>
              </a:rPr>
              <a:t>Total Combination</a:t>
            </a:r>
            <a:r>
              <a:rPr lang="en" sz="700">
                <a:solidFill>
                  <a:schemeClr val="dk1"/>
                </a:solidFill>
                <a:highlight>
                  <a:schemeClr val="lt1"/>
                </a:highlight>
              </a:rPr>
              <a:t>: 16</a:t>
            </a:r>
            <a:endParaRPr sz="7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700">
                <a:solidFill>
                  <a:schemeClr val="dk1"/>
                </a:solidFill>
                <a:highlight>
                  <a:schemeClr val="lt1"/>
                </a:highlight>
              </a:rPr>
              <a:t>Active/Reflective = Active</a:t>
            </a:r>
            <a:endParaRPr sz="7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229" name="Google Shape;229;p23"/>
          <p:cNvSpPr txBox="1"/>
          <p:nvPr/>
        </p:nvSpPr>
        <p:spPr>
          <a:xfrm>
            <a:off x="1682975" y="4539075"/>
            <a:ext cx="61485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" sz="1350" b="1">
                <a:solidFill>
                  <a:srgbClr val="1D3557"/>
                </a:solidFill>
                <a:highlight>
                  <a:schemeClr val="lt2"/>
                </a:highlight>
              </a:rPr>
              <a:t>Dimension Selection: </a:t>
            </a:r>
            <a:r>
              <a:rPr lang="en" sz="1350">
                <a:solidFill>
                  <a:srgbClr val="1D3557"/>
                </a:solidFill>
                <a:highlight>
                  <a:schemeClr val="lt2"/>
                </a:highlight>
              </a:rPr>
              <a:t>2 Score | 4 Dimension | 16 combination (agent)</a:t>
            </a:r>
            <a:endParaRPr sz="1350">
              <a:solidFill>
                <a:schemeClr val="dk1"/>
              </a:solidFill>
              <a:highlight>
                <a:schemeClr val="lt2"/>
              </a:highlight>
            </a:endParaRPr>
          </a:p>
        </p:txBody>
      </p:sp>
      <p:sp>
        <p:nvSpPr>
          <p:cNvPr id="230" name="Google Shape;230;p23"/>
          <p:cNvSpPr txBox="1"/>
          <p:nvPr/>
        </p:nvSpPr>
        <p:spPr>
          <a:xfrm>
            <a:off x="258775" y="4820400"/>
            <a:ext cx="8281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/>
              <a:t>Felder, R. M., &amp; Soloman, B. A. (1997): </a:t>
            </a:r>
            <a:r>
              <a:rPr lang="en" sz="700"/>
              <a:t>Index of learning styles questionnaire</a:t>
            </a:r>
            <a:endParaRPr sz="700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/>
        </p:nvSpPr>
        <p:spPr>
          <a:xfrm>
            <a:off x="418025" y="468350"/>
            <a:ext cx="75387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252827"/>
                </a:solidFill>
                <a:latin typeface="Oswald"/>
                <a:ea typeface="Oswald"/>
                <a:cs typeface="Oswald"/>
                <a:sym typeface="Oswald"/>
              </a:rPr>
              <a:t>2.3 PersonaRAG: User-Centric Retrieval Agents</a:t>
            </a:r>
            <a:endParaRPr sz="2300" b="1">
              <a:solidFill>
                <a:srgbClr val="252827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36" name="Google Shape;236;p24"/>
          <p:cNvSpPr txBox="1">
            <a:spLocks noGrp="1"/>
          </p:cNvSpPr>
          <p:nvPr>
            <p:ph type="sldNum" idx="12"/>
          </p:nvPr>
        </p:nvSpPr>
        <p:spPr>
          <a:xfrm>
            <a:off x="8614077" y="4761623"/>
            <a:ext cx="407100" cy="2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237" name="Google Shape;237;p24"/>
          <p:cNvSpPr/>
          <p:nvPr/>
        </p:nvSpPr>
        <p:spPr>
          <a:xfrm>
            <a:off x="510450" y="984075"/>
            <a:ext cx="646800" cy="1113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BA8EB"/>
              </a:solidFill>
            </a:endParaRPr>
          </a:p>
        </p:txBody>
      </p:sp>
      <p:sp>
        <p:nvSpPr>
          <p:cNvPr id="238" name="Google Shape;238;p24"/>
          <p:cNvSpPr/>
          <p:nvPr/>
        </p:nvSpPr>
        <p:spPr>
          <a:xfrm>
            <a:off x="458925" y="1258050"/>
            <a:ext cx="4887600" cy="3349500"/>
          </a:xfrm>
          <a:prstGeom prst="roundRect">
            <a:avLst>
              <a:gd name="adj" fmla="val 3047"/>
            </a:avLst>
          </a:prstGeom>
          <a:solidFill>
            <a:srgbClr val="F3F3F3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458925" y="1221250"/>
            <a:ext cx="305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Core Concept</a:t>
            </a:r>
            <a:endParaRPr sz="1500" b="1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4"/>
          <p:cNvSpPr txBox="1"/>
          <p:nvPr/>
        </p:nvSpPr>
        <p:spPr>
          <a:xfrm>
            <a:off x="602025" y="1590550"/>
            <a:ext cx="4534800" cy="7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PersonaRAG extends standard RAG with user-centric agents that adapt retrieval based on interaction profiles, enabling real-time personalization beyond static queries.</a:t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4"/>
          <p:cNvSpPr/>
          <p:nvPr/>
        </p:nvSpPr>
        <p:spPr>
          <a:xfrm>
            <a:off x="602024" y="2430274"/>
            <a:ext cx="288900" cy="295200"/>
          </a:xfrm>
          <a:prstGeom prst="roundRect">
            <a:avLst>
              <a:gd name="adj" fmla="val 50000"/>
            </a:avLst>
          </a:prstGeom>
          <a:solidFill>
            <a:srgbClr val="0B5394"/>
          </a:solidFill>
          <a:ln w="87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625" tIns="83625" rIns="83625" bIns="836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31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831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2" name="Google Shape;242;p24"/>
          <p:cNvSpPr txBox="1"/>
          <p:nvPr/>
        </p:nvSpPr>
        <p:spPr>
          <a:xfrm>
            <a:off x="890925" y="23122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User Profile Agent</a:t>
            </a:r>
            <a:endParaRPr sz="1200" b="1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4"/>
          <p:cNvSpPr txBox="1"/>
          <p:nvPr/>
        </p:nvSpPr>
        <p:spPr>
          <a:xfrm>
            <a:off x="890925" y="2560975"/>
            <a:ext cx="4212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Monitors FSLSM vector; generates reasoning plan for retrieval structure</a:t>
            </a:r>
            <a:endParaRPr sz="10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4"/>
          <p:cNvSpPr/>
          <p:nvPr/>
        </p:nvSpPr>
        <p:spPr>
          <a:xfrm>
            <a:off x="602024" y="2990493"/>
            <a:ext cx="288900" cy="295200"/>
          </a:xfrm>
          <a:prstGeom prst="roundRect">
            <a:avLst>
              <a:gd name="adj" fmla="val 50000"/>
            </a:avLst>
          </a:prstGeom>
          <a:solidFill>
            <a:srgbClr val="0B5394"/>
          </a:solidFill>
          <a:ln w="87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625" tIns="83625" rIns="83625" bIns="836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31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831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5" name="Google Shape;245;p24"/>
          <p:cNvSpPr txBox="1"/>
          <p:nvPr/>
        </p:nvSpPr>
        <p:spPr>
          <a:xfrm>
            <a:off x="890925" y="2821794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Context Retrieval Agent</a:t>
            </a:r>
            <a:endParaRPr sz="1200" b="1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4"/>
          <p:cNvSpPr txBox="1"/>
          <p:nvPr/>
        </p:nvSpPr>
        <p:spPr>
          <a:xfrm>
            <a:off x="874125" y="3059869"/>
            <a:ext cx="4246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Reformulates queries with style directives (e.g., visual scaffolding)</a:t>
            </a:r>
            <a:endParaRPr sz="10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602024" y="3442934"/>
            <a:ext cx="288900" cy="295200"/>
          </a:xfrm>
          <a:prstGeom prst="roundRect">
            <a:avLst>
              <a:gd name="adj" fmla="val 50000"/>
            </a:avLst>
          </a:prstGeom>
          <a:solidFill>
            <a:srgbClr val="0B5394"/>
          </a:solidFill>
          <a:ln w="87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625" tIns="83625" rIns="83625" bIns="836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31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831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8" name="Google Shape;248;p24"/>
          <p:cNvSpPr txBox="1"/>
          <p:nvPr/>
        </p:nvSpPr>
        <p:spPr>
          <a:xfrm>
            <a:off x="890925" y="3324773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Document Ranking Agent</a:t>
            </a:r>
            <a:endParaRPr sz="1200" b="1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4"/>
          <p:cNvSpPr txBox="1"/>
          <p:nvPr/>
        </p:nvSpPr>
        <p:spPr>
          <a:xfrm>
            <a:off x="890925" y="3552148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Re-ranks results to surface style-matched passages</a:t>
            </a:r>
            <a:endParaRPr sz="10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602024" y="3989947"/>
            <a:ext cx="288900" cy="295200"/>
          </a:xfrm>
          <a:prstGeom prst="roundRect">
            <a:avLst>
              <a:gd name="adj" fmla="val 50000"/>
            </a:avLst>
          </a:prstGeom>
          <a:solidFill>
            <a:srgbClr val="0B5394"/>
          </a:solidFill>
          <a:ln w="87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625" tIns="83625" rIns="83625" bIns="836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31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831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1" name="Google Shape;251;p24"/>
          <p:cNvSpPr txBox="1"/>
          <p:nvPr/>
        </p:nvSpPr>
        <p:spPr>
          <a:xfrm>
            <a:off x="890925" y="3895373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Feedback Agent</a:t>
            </a:r>
            <a:endParaRPr sz="1200" b="1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/>
          <p:cNvSpPr txBox="1"/>
          <p:nvPr/>
        </p:nvSpPr>
        <p:spPr>
          <a:xfrm>
            <a:off x="890925" y="4157500"/>
            <a:ext cx="4212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Continuously integrates interaction data to refine outputs</a:t>
            </a:r>
            <a:endParaRPr sz="10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5502100" y="1258050"/>
            <a:ext cx="3330600" cy="3377700"/>
          </a:xfrm>
          <a:prstGeom prst="roundRect">
            <a:avLst>
              <a:gd name="adj" fmla="val 3047"/>
            </a:avLst>
          </a:prstGeom>
          <a:solidFill>
            <a:srgbClr val="F3F3F3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5607925" y="1818250"/>
            <a:ext cx="3174900" cy="26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Zerhoudi &amp; Granitzer (2024):</a:t>
            </a:r>
            <a:r>
              <a:rPr lang="en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User-centric agents for adaptive retrieval</a:t>
            </a:r>
            <a:endParaRPr sz="10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Chen et al., (2024)</a:t>
            </a:r>
            <a:r>
              <a:rPr lang="en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: From persona to personalization, A survey on role-playing language agents</a:t>
            </a:r>
            <a:endParaRPr sz="10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Kaiyrbekov et al., (2025):</a:t>
            </a:r>
            <a:r>
              <a:rPr lang="en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Automated survey collection with llm-based conversational agents.</a:t>
            </a:r>
            <a:endParaRPr sz="10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Yao &amp; González-Vélez (2025)</a:t>
            </a:r>
            <a:r>
              <a:rPr lang="en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: Multi-agent RAG with knowledge graphs</a:t>
            </a:r>
            <a:endParaRPr sz="10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4"/>
          <p:cNvSpPr txBox="1"/>
          <p:nvPr/>
        </p:nvSpPr>
        <p:spPr>
          <a:xfrm>
            <a:off x="5640250" y="1333975"/>
            <a:ext cx="305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1500" b="1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"/>
          <p:cNvSpPr txBox="1"/>
          <p:nvPr/>
        </p:nvSpPr>
        <p:spPr>
          <a:xfrm>
            <a:off x="418025" y="468350"/>
            <a:ext cx="29007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252827"/>
                </a:solidFill>
                <a:latin typeface="Oswald"/>
                <a:ea typeface="Oswald"/>
                <a:cs typeface="Oswald"/>
                <a:sym typeface="Oswald"/>
              </a:rPr>
              <a:t>3. METHODOLOGY</a:t>
            </a:r>
            <a:endParaRPr sz="2300" b="1">
              <a:solidFill>
                <a:srgbClr val="F8CF2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61" name="Google Shape;261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262" name="Google Shape;262;p25"/>
          <p:cNvSpPr/>
          <p:nvPr/>
        </p:nvSpPr>
        <p:spPr>
          <a:xfrm>
            <a:off x="510450" y="984075"/>
            <a:ext cx="646800" cy="1113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BA8EB"/>
              </a:solidFill>
            </a:endParaRPr>
          </a:p>
        </p:txBody>
      </p:sp>
      <p:pic>
        <p:nvPicPr>
          <p:cNvPr id="263" name="Google Shape;26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700" y="1154100"/>
            <a:ext cx="7809993" cy="374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"/>
          <p:cNvSpPr txBox="1"/>
          <p:nvPr/>
        </p:nvSpPr>
        <p:spPr>
          <a:xfrm>
            <a:off x="418025" y="468350"/>
            <a:ext cx="75387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252827"/>
                </a:solidFill>
                <a:latin typeface="Oswald"/>
                <a:ea typeface="Oswald"/>
                <a:cs typeface="Oswald"/>
                <a:sym typeface="Oswald"/>
              </a:rPr>
              <a:t>3.1 Learning Style integration in PersonaRAG</a:t>
            </a:r>
            <a:endParaRPr sz="2300" b="1">
              <a:solidFill>
                <a:srgbClr val="252827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69" name="Google Shape;269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270" name="Google Shape;270;p26"/>
          <p:cNvSpPr/>
          <p:nvPr/>
        </p:nvSpPr>
        <p:spPr>
          <a:xfrm>
            <a:off x="510450" y="984075"/>
            <a:ext cx="646800" cy="1113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BA8EB"/>
              </a:solidFill>
            </a:endParaRPr>
          </a:p>
        </p:txBody>
      </p:sp>
      <p:sp>
        <p:nvSpPr>
          <p:cNvPr id="271" name="Google Shape;271;p26"/>
          <p:cNvSpPr/>
          <p:nvPr/>
        </p:nvSpPr>
        <p:spPr>
          <a:xfrm>
            <a:off x="8724600" y="0"/>
            <a:ext cx="419400" cy="51435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2" name="Google Shape;272;p26" title="sample-prom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650" y="1159550"/>
            <a:ext cx="5705193" cy="383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"/>
          <p:cNvSpPr txBox="1"/>
          <p:nvPr/>
        </p:nvSpPr>
        <p:spPr>
          <a:xfrm>
            <a:off x="418025" y="468350"/>
            <a:ext cx="71631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252827"/>
                </a:solidFill>
                <a:latin typeface="Oswald"/>
                <a:ea typeface="Oswald"/>
                <a:cs typeface="Oswald"/>
                <a:sym typeface="Oswald"/>
              </a:rPr>
              <a:t>3.2 Virtual Agent</a:t>
            </a:r>
            <a:endParaRPr sz="2300" b="1">
              <a:solidFill>
                <a:srgbClr val="252827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78" name="Google Shape;278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279" name="Google Shape;279;p27"/>
          <p:cNvSpPr/>
          <p:nvPr/>
        </p:nvSpPr>
        <p:spPr>
          <a:xfrm>
            <a:off x="510450" y="984075"/>
            <a:ext cx="646800" cy="1113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BA8EB"/>
              </a:solidFill>
            </a:endParaRPr>
          </a:p>
        </p:txBody>
      </p:sp>
      <p:sp>
        <p:nvSpPr>
          <p:cNvPr id="280" name="Google Shape;280;p27"/>
          <p:cNvSpPr/>
          <p:nvPr/>
        </p:nvSpPr>
        <p:spPr>
          <a:xfrm>
            <a:off x="8724600" y="0"/>
            <a:ext cx="419400" cy="51435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1" name="Google Shape;281;p27" title="building-llm-ag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3525" y="1301625"/>
            <a:ext cx="7100524" cy="352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"/>
          <p:cNvSpPr txBox="1"/>
          <p:nvPr/>
        </p:nvSpPr>
        <p:spPr>
          <a:xfrm>
            <a:off x="425375" y="445275"/>
            <a:ext cx="49023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252827"/>
                </a:solidFill>
                <a:latin typeface="Oswald"/>
                <a:ea typeface="Oswald"/>
                <a:cs typeface="Oswald"/>
                <a:sym typeface="Oswald"/>
              </a:rPr>
              <a:t>3.3 Tutor Agent in RAG-MCP</a:t>
            </a:r>
            <a:endParaRPr sz="2300" b="1">
              <a:solidFill>
                <a:srgbClr val="252827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87" name="Google Shape;28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288" name="Google Shape;288;p28"/>
          <p:cNvSpPr/>
          <p:nvPr/>
        </p:nvSpPr>
        <p:spPr>
          <a:xfrm>
            <a:off x="510450" y="984075"/>
            <a:ext cx="646800" cy="1113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BA8EB"/>
              </a:solidFill>
            </a:endParaRPr>
          </a:p>
        </p:txBody>
      </p:sp>
      <p:pic>
        <p:nvPicPr>
          <p:cNvPr id="289" name="Google Shape;289;p28" title="rag-mcp.png"/>
          <p:cNvPicPr preferRelativeResize="0"/>
          <p:nvPr/>
        </p:nvPicPr>
        <p:blipFill rotWithShape="1">
          <a:blip r:embed="rId3">
            <a:alphaModFix/>
          </a:blip>
          <a:srcRect l="5130" t="7913" r="4878" b="10086"/>
          <a:stretch/>
        </p:blipFill>
        <p:spPr>
          <a:xfrm>
            <a:off x="1394500" y="1168750"/>
            <a:ext cx="6355000" cy="3421326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8"/>
          <p:cNvSpPr/>
          <p:nvPr/>
        </p:nvSpPr>
        <p:spPr>
          <a:xfrm>
            <a:off x="8724600" y="0"/>
            <a:ext cx="419400" cy="51435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/>
        </p:nvSpPr>
        <p:spPr>
          <a:xfrm>
            <a:off x="418025" y="468350"/>
            <a:ext cx="49023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252827"/>
                </a:solidFill>
                <a:latin typeface="Oswald"/>
                <a:ea typeface="Oswald"/>
                <a:cs typeface="Oswald"/>
                <a:sym typeface="Oswald"/>
              </a:rPr>
              <a:t>3.4 Dataset</a:t>
            </a:r>
            <a:endParaRPr sz="2300" b="1">
              <a:solidFill>
                <a:srgbClr val="252827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96" name="Google Shape;296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297" name="Google Shape;297;p29"/>
          <p:cNvSpPr/>
          <p:nvPr/>
        </p:nvSpPr>
        <p:spPr>
          <a:xfrm>
            <a:off x="510450" y="984075"/>
            <a:ext cx="646800" cy="1113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BA8EB"/>
              </a:solidFill>
            </a:endParaRPr>
          </a:p>
        </p:txBody>
      </p:sp>
      <p:sp>
        <p:nvSpPr>
          <p:cNvPr id="298" name="Google Shape;298;p29"/>
          <p:cNvSpPr/>
          <p:nvPr/>
        </p:nvSpPr>
        <p:spPr>
          <a:xfrm>
            <a:off x="658600" y="1252625"/>
            <a:ext cx="3879000" cy="2206800"/>
          </a:xfrm>
          <a:prstGeom prst="roundRect">
            <a:avLst>
              <a:gd name="adj" fmla="val 3047"/>
            </a:avLst>
          </a:prstGeom>
          <a:solidFill>
            <a:srgbClr val="F3F3F3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29"/>
          <p:cNvSpPr txBox="1"/>
          <p:nvPr/>
        </p:nvSpPr>
        <p:spPr>
          <a:xfrm>
            <a:off x="724725" y="1366525"/>
            <a:ext cx="305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Primary Knowledge Corpus</a:t>
            </a:r>
            <a:endParaRPr sz="1500" b="1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9"/>
          <p:cNvSpPr txBox="1"/>
          <p:nvPr/>
        </p:nvSpPr>
        <p:spPr>
          <a:xfrm>
            <a:off x="945875" y="1669675"/>
            <a:ext cx="3426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Dive into Deep Learning (D2L)</a:t>
            </a:r>
            <a:endParaRPr sz="1100" b="1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Zhang et al., 2021  —  open-source textbook</a:t>
            </a:r>
            <a:endParaRPr sz="11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9"/>
          <p:cNvSpPr txBox="1"/>
          <p:nvPr/>
        </p:nvSpPr>
        <p:spPr>
          <a:xfrm>
            <a:off x="945875" y="2247525"/>
            <a:ext cx="3000000" cy="11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Neural networks &amp; optimization fundamentals</a:t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~2,500 semantically coherent chunks</a:t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Metadata tags: chapter, section, concept</a:t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Undergraduate instructional level</a:t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Single domain to control confounds</a:t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9"/>
          <p:cNvSpPr/>
          <p:nvPr/>
        </p:nvSpPr>
        <p:spPr>
          <a:xfrm>
            <a:off x="4779725" y="1252625"/>
            <a:ext cx="3879000" cy="2206800"/>
          </a:xfrm>
          <a:prstGeom prst="roundRect">
            <a:avLst>
              <a:gd name="adj" fmla="val 3047"/>
            </a:avLst>
          </a:prstGeom>
          <a:solidFill>
            <a:srgbClr val="F3F3F3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9"/>
          <p:cNvSpPr txBox="1"/>
          <p:nvPr/>
        </p:nvSpPr>
        <p:spPr>
          <a:xfrm>
            <a:off x="4925250" y="1358725"/>
            <a:ext cx="3054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9"/>
          <p:cNvSpPr txBox="1"/>
          <p:nvPr/>
        </p:nvSpPr>
        <p:spPr>
          <a:xfrm>
            <a:off x="4885550" y="1366525"/>
            <a:ext cx="3713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Multi-Hop 5-Chunk D2L-QA Dataset Generation</a:t>
            </a:r>
            <a:endParaRPr sz="1500" b="1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9"/>
          <p:cNvSpPr txBox="1"/>
          <p:nvPr/>
        </p:nvSpPr>
        <p:spPr>
          <a:xfrm>
            <a:off x="4952400" y="1735825"/>
            <a:ext cx="37134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Question Types: </a:t>
            </a:r>
            <a:r>
              <a:rPr lang="en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Compare, Trace-evolution, Explain-relationship, Synthesize-workflow · Debug-scenario</a:t>
            </a:r>
            <a:endParaRPr sz="1000" b="1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Per Record: </a:t>
            </a:r>
            <a:r>
              <a:rPr lang="en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Question, Gold answer,  5 gold chunk IDs, Essential vs. supporting chunk annotations</a:t>
            </a:r>
            <a:endParaRPr sz="10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Ablation Check: </a:t>
            </a:r>
            <a:r>
              <a:rPr lang="en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 ensure each question genuinely requires multi-chunk reasoning, a leave-one-out ablation protocol is applied during dataset construction.</a:t>
            </a:r>
            <a:endParaRPr sz="1000" b="1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6" name="Google Shape;306;p29"/>
          <p:cNvGrpSpPr/>
          <p:nvPr/>
        </p:nvGrpSpPr>
        <p:grpSpPr>
          <a:xfrm>
            <a:off x="658600" y="3771300"/>
            <a:ext cx="7768600" cy="488400"/>
            <a:chOff x="658600" y="3771300"/>
            <a:chExt cx="7768600" cy="488400"/>
          </a:xfrm>
        </p:grpSpPr>
        <p:sp>
          <p:nvSpPr>
            <p:cNvPr id="307" name="Google Shape;307;p29"/>
            <p:cNvSpPr/>
            <p:nvPr/>
          </p:nvSpPr>
          <p:spPr>
            <a:xfrm>
              <a:off x="658600" y="3771300"/>
              <a:ext cx="1074300" cy="488400"/>
            </a:xfrm>
            <a:prstGeom prst="roundRect">
              <a:avLst>
                <a:gd name="adj" fmla="val 5173"/>
              </a:avLst>
            </a:prstGeom>
            <a:solidFill>
              <a:srgbClr val="FFF2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/>
                <a:t>D2L Book</a:t>
              </a:r>
              <a:endParaRPr sz="900"/>
            </a:p>
          </p:txBody>
        </p:sp>
        <p:sp>
          <p:nvSpPr>
            <p:cNvPr id="308" name="Google Shape;308;p29"/>
            <p:cNvSpPr/>
            <p:nvPr/>
          </p:nvSpPr>
          <p:spPr>
            <a:xfrm>
              <a:off x="1955025" y="3771300"/>
              <a:ext cx="1074300" cy="488400"/>
            </a:xfrm>
            <a:prstGeom prst="roundRect">
              <a:avLst>
                <a:gd name="adj" fmla="val 5173"/>
              </a:avLst>
            </a:prstGeom>
            <a:solidFill>
              <a:srgbClr val="D9EAD3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/>
                <a:t>Chunk &amp; Parse</a:t>
              </a:r>
              <a:endParaRPr sz="900"/>
            </a:p>
          </p:txBody>
        </p:sp>
        <p:sp>
          <p:nvSpPr>
            <p:cNvPr id="309" name="Google Shape;309;p29"/>
            <p:cNvSpPr/>
            <p:nvPr/>
          </p:nvSpPr>
          <p:spPr>
            <a:xfrm>
              <a:off x="3297875" y="3771300"/>
              <a:ext cx="1074300" cy="488400"/>
            </a:xfrm>
            <a:prstGeom prst="roundRect">
              <a:avLst>
                <a:gd name="adj" fmla="val 5173"/>
              </a:avLst>
            </a:prstGeom>
            <a:solidFill>
              <a:srgbClr val="D9D2E9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/>
                <a:t>Cluster By Topic</a:t>
              </a:r>
              <a:endParaRPr sz="900"/>
            </a:p>
          </p:txBody>
        </p:sp>
        <p:sp>
          <p:nvSpPr>
            <p:cNvPr id="310" name="Google Shape;310;p29"/>
            <p:cNvSpPr/>
            <p:nvPr/>
          </p:nvSpPr>
          <p:spPr>
            <a:xfrm>
              <a:off x="4647350" y="3771300"/>
              <a:ext cx="1074300" cy="488400"/>
            </a:xfrm>
            <a:prstGeom prst="roundRect">
              <a:avLst>
                <a:gd name="adj" fmla="val 5173"/>
              </a:avLst>
            </a:prstGeom>
            <a:solidFill>
              <a:srgbClr val="D0E0E3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/>
                <a:t>Find 5-Chunk</a:t>
              </a:r>
              <a:endParaRPr sz="900"/>
            </a:p>
          </p:txBody>
        </p:sp>
        <p:sp>
          <p:nvSpPr>
            <p:cNvPr id="311" name="Google Shape;311;p29"/>
            <p:cNvSpPr/>
            <p:nvPr/>
          </p:nvSpPr>
          <p:spPr>
            <a:xfrm>
              <a:off x="5996813" y="3771300"/>
              <a:ext cx="1074300" cy="488400"/>
            </a:xfrm>
            <a:prstGeom prst="roundRect">
              <a:avLst>
                <a:gd name="adj" fmla="val 5173"/>
              </a:avLst>
            </a:prstGeom>
            <a:solidFill>
              <a:srgbClr val="F9CB9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/>
                <a:t>Generate QA</a:t>
              </a:r>
              <a:endParaRPr sz="900"/>
            </a:p>
          </p:txBody>
        </p:sp>
        <p:sp>
          <p:nvSpPr>
            <p:cNvPr id="312" name="Google Shape;312;p29"/>
            <p:cNvSpPr/>
            <p:nvPr/>
          </p:nvSpPr>
          <p:spPr>
            <a:xfrm>
              <a:off x="7352900" y="3771300"/>
              <a:ext cx="1074300" cy="488400"/>
            </a:xfrm>
            <a:prstGeom prst="roundRect">
              <a:avLst>
                <a:gd name="adj" fmla="val 5173"/>
              </a:avLst>
            </a:prstGeom>
            <a:solidFill>
              <a:srgbClr val="B6D7A8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/>
                <a:t>Validation</a:t>
              </a:r>
              <a:endParaRPr sz="900"/>
            </a:p>
          </p:txBody>
        </p:sp>
        <p:cxnSp>
          <p:nvCxnSpPr>
            <p:cNvPr id="313" name="Google Shape;313;p29"/>
            <p:cNvCxnSpPr>
              <a:stCxn id="307" idx="3"/>
              <a:endCxn id="308" idx="1"/>
            </p:cNvCxnSpPr>
            <p:nvPr/>
          </p:nvCxnSpPr>
          <p:spPr>
            <a:xfrm>
              <a:off x="1732900" y="4015500"/>
              <a:ext cx="222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14" name="Google Shape;314;p29"/>
            <p:cNvCxnSpPr/>
            <p:nvPr/>
          </p:nvCxnSpPr>
          <p:spPr>
            <a:xfrm>
              <a:off x="3052600" y="4042225"/>
              <a:ext cx="222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15" name="Google Shape;315;p29"/>
            <p:cNvCxnSpPr/>
            <p:nvPr/>
          </p:nvCxnSpPr>
          <p:spPr>
            <a:xfrm>
              <a:off x="4372175" y="4015500"/>
              <a:ext cx="222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16" name="Google Shape;316;p29"/>
            <p:cNvCxnSpPr/>
            <p:nvPr/>
          </p:nvCxnSpPr>
          <p:spPr>
            <a:xfrm>
              <a:off x="5748238" y="4015500"/>
              <a:ext cx="222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17" name="Google Shape;317;p29"/>
            <p:cNvCxnSpPr/>
            <p:nvPr/>
          </p:nvCxnSpPr>
          <p:spPr>
            <a:xfrm>
              <a:off x="7101000" y="4015500"/>
              <a:ext cx="222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0"/>
          <p:cNvSpPr/>
          <p:nvPr/>
        </p:nvSpPr>
        <p:spPr>
          <a:xfrm>
            <a:off x="510450" y="1186325"/>
            <a:ext cx="7780800" cy="393600"/>
          </a:xfrm>
          <a:prstGeom prst="roundRect">
            <a:avLst>
              <a:gd name="adj" fmla="val 3047"/>
            </a:avLst>
          </a:prstGeom>
          <a:solidFill>
            <a:srgbClr val="F3F3F3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30"/>
          <p:cNvSpPr txBox="1"/>
          <p:nvPr/>
        </p:nvSpPr>
        <p:spPr>
          <a:xfrm>
            <a:off x="418025" y="468350"/>
            <a:ext cx="49023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252827"/>
                </a:solidFill>
                <a:latin typeface="Oswald"/>
                <a:ea typeface="Oswald"/>
                <a:cs typeface="Oswald"/>
                <a:sym typeface="Oswald"/>
              </a:rPr>
              <a:t>4. EXPERIMENTAL DESIGN : EXP1-QA2</a:t>
            </a:r>
            <a:endParaRPr sz="2300" b="1">
              <a:solidFill>
                <a:srgbClr val="252827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24" name="Google Shape;324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325" name="Google Shape;325;p30"/>
          <p:cNvSpPr/>
          <p:nvPr/>
        </p:nvSpPr>
        <p:spPr>
          <a:xfrm>
            <a:off x="510450" y="984075"/>
            <a:ext cx="646800" cy="1113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BA8EB"/>
              </a:solidFill>
            </a:endParaRPr>
          </a:p>
        </p:txBody>
      </p:sp>
      <p:sp>
        <p:nvSpPr>
          <p:cNvPr id="326" name="Google Shape;326;p30"/>
          <p:cNvSpPr txBox="1"/>
          <p:nvPr/>
        </p:nvSpPr>
        <p:spPr>
          <a:xfrm>
            <a:off x="935050" y="1198475"/>
            <a:ext cx="6570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To Validate that virtual student LLM agents consistently reflect assigned FSLSM profiles</a:t>
            </a:r>
            <a:endParaRPr sz="12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7" name="Google Shape;32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225" y="1262538"/>
            <a:ext cx="265625" cy="2656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0"/>
          <p:cNvSpPr/>
          <p:nvPr/>
        </p:nvSpPr>
        <p:spPr>
          <a:xfrm>
            <a:off x="550616" y="1980254"/>
            <a:ext cx="3652800" cy="860700"/>
          </a:xfrm>
          <a:prstGeom prst="roundRect">
            <a:avLst>
              <a:gd name="adj" fmla="val 3047"/>
            </a:avLst>
          </a:prstGeom>
          <a:solidFill>
            <a:srgbClr val="F3F3F3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30"/>
          <p:cNvSpPr/>
          <p:nvPr/>
        </p:nvSpPr>
        <p:spPr>
          <a:xfrm>
            <a:off x="4380391" y="1980254"/>
            <a:ext cx="3652800" cy="860700"/>
          </a:xfrm>
          <a:prstGeom prst="roundRect">
            <a:avLst>
              <a:gd name="adj" fmla="val 3047"/>
            </a:avLst>
          </a:prstGeom>
          <a:solidFill>
            <a:srgbClr val="F3F3F3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30"/>
          <p:cNvSpPr txBox="1"/>
          <p:nvPr/>
        </p:nvSpPr>
        <p:spPr>
          <a:xfrm>
            <a:off x="510441" y="1599727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Key Metrics</a:t>
            </a:r>
            <a:endParaRPr b="1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0"/>
          <p:cNvSpPr txBox="1"/>
          <p:nvPr/>
        </p:nvSpPr>
        <p:spPr>
          <a:xfrm>
            <a:off x="633466" y="2042704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Profile Recovery Accuracy (PRA)</a:t>
            </a:r>
            <a:endParaRPr sz="1200" b="1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0"/>
          <p:cNvSpPr txBox="1"/>
          <p:nvPr/>
        </p:nvSpPr>
        <p:spPr>
          <a:xfrm>
            <a:off x="633466" y="2317754"/>
            <a:ext cx="3425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Proportion of agents whose detected profile matches the assigned profile across all 4 FSLSM dimensions.</a:t>
            </a:r>
            <a:endParaRPr sz="10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0"/>
          <p:cNvSpPr txBox="1"/>
          <p:nvPr/>
        </p:nvSpPr>
        <p:spPr>
          <a:xfrm>
            <a:off x="4425016" y="2042704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Dimension Alignment Score (DAS)</a:t>
            </a:r>
            <a:endParaRPr sz="1200" b="1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4491666" y="2317754"/>
            <a:ext cx="3541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Cosine similarity between agent's aggregated responses and validated FSLSM trait descriptors (Graf et al., 2007).</a:t>
            </a:r>
            <a:endParaRPr sz="10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159116" y="1980254"/>
            <a:ext cx="1044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2D8B5F"/>
                </a:solidFill>
                <a:latin typeface="Calibri"/>
                <a:ea typeface="Calibri"/>
                <a:cs typeface="Calibri"/>
                <a:sym typeface="Calibri"/>
              </a:rPr>
              <a:t>Target: 0.80+</a:t>
            </a:r>
            <a:endParaRPr sz="900" b="1">
              <a:solidFill>
                <a:srgbClr val="2D8B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6938166" y="1980254"/>
            <a:ext cx="1095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2D8B5F"/>
                </a:solidFill>
                <a:latin typeface="Calibri"/>
                <a:ea typeface="Calibri"/>
                <a:cs typeface="Calibri"/>
                <a:sym typeface="Calibri"/>
              </a:rPr>
              <a:t>Target: 0.75+</a:t>
            </a:r>
            <a:endParaRPr sz="900" b="1">
              <a:solidFill>
                <a:srgbClr val="2D8B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0"/>
          <p:cNvSpPr txBox="1"/>
          <p:nvPr/>
        </p:nvSpPr>
        <p:spPr>
          <a:xfrm>
            <a:off x="510450" y="3061704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Projected Results</a:t>
            </a:r>
            <a:endParaRPr b="1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8" name="Google Shape;338;p30"/>
          <p:cNvGraphicFramePr/>
          <p:nvPr/>
        </p:nvGraphicFramePr>
        <p:xfrm>
          <a:off x="613113" y="3525000"/>
          <a:ext cx="7575475" cy="1282115"/>
        </p:xfrm>
        <a:graphic>
          <a:graphicData uri="http://schemas.openxmlformats.org/drawingml/2006/table">
            <a:tbl>
              <a:tblPr>
                <a:noFill/>
                <a:tableStyleId>{84B9D12A-2C3D-47DC-ADC3-D64EFF472797}</a:tableStyleId>
              </a:tblPr>
              <a:tblGrid>
                <a:gridCol w="292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9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0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PRA</a:t>
                      </a:r>
                      <a:endParaRPr sz="10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DAS</a:t>
                      </a:r>
                      <a:endParaRPr sz="10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Non-Personalized Baseline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0.60 ± 0.13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0.58 ± 0.14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8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FSLSM + GPT-4o</a:t>
                      </a:r>
                      <a:endParaRPr sz="10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2D8B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0.82 ± 0.10</a:t>
                      </a:r>
                      <a:endParaRPr sz="1000" b="1">
                        <a:solidFill>
                          <a:srgbClr val="2D8B5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2D8B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 ± 0.10</a:t>
                      </a:r>
                      <a:endParaRPr sz="1000" b="1">
                        <a:solidFill>
                          <a:srgbClr val="2D8B5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8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FSLSM + Claude Sonnet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 ± 0.10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 ± 0.10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FSLSM + Llama 3 8B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 ± 0.10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0.70 ± 0.10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9" name="Google Shape;339;p30"/>
          <p:cNvSpPr/>
          <p:nvPr/>
        </p:nvSpPr>
        <p:spPr>
          <a:xfrm>
            <a:off x="8724600" y="0"/>
            <a:ext cx="419400" cy="51435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1"/>
          <p:cNvSpPr/>
          <p:nvPr/>
        </p:nvSpPr>
        <p:spPr>
          <a:xfrm>
            <a:off x="550625" y="1186325"/>
            <a:ext cx="7601700" cy="626700"/>
          </a:xfrm>
          <a:prstGeom prst="roundRect">
            <a:avLst>
              <a:gd name="adj" fmla="val 3047"/>
            </a:avLst>
          </a:prstGeom>
          <a:solidFill>
            <a:srgbClr val="F3F3F3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31"/>
          <p:cNvSpPr txBox="1"/>
          <p:nvPr/>
        </p:nvSpPr>
        <p:spPr>
          <a:xfrm>
            <a:off x="418025" y="468350"/>
            <a:ext cx="49023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252827"/>
                </a:solidFill>
                <a:latin typeface="Oswald"/>
                <a:ea typeface="Oswald"/>
                <a:cs typeface="Oswald"/>
                <a:sym typeface="Oswald"/>
              </a:rPr>
              <a:t>4. EXPERIMENTAL DESIGN : EXP2-QA1</a:t>
            </a:r>
            <a:endParaRPr sz="2300" b="1">
              <a:solidFill>
                <a:srgbClr val="252827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46" name="Google Shape;346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347" name="Google Shape;347;p31"/>
          <p:cNvSpPr/>
          <p:nvPr/>
        </p:nvSpPr>
        <p:spPr>
          <a:xfrm>
            <a:off x="510450" y="984075"/>
            <a:ext cx="646800" cy="1113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BA8EB"/>
              </a:solidFill>
            </a:endParaRPr>
          </a:p>
        </p:txBody>
      </p:sp>
      <p:sp>
        <p:nvSpPr>
          <p:cNvPr id="348" name="Google Shape;348;p31"/>
          <p:cNvSpPr txBox="1"/>
          <p:nvPr/>
        </p:nvSpPr>
        <p:spPr>
          <a:xfrm>
            <a:off x="935050" y="1198475"/>
            <a:ext cx="72174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Compare personalized vs. baseline RAG tutor on style conformance, response relevance, and chunk recall across 4,000 A/B sessions.</a:t>
            </a:r>
            <a:endParaRPr sz="12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9" name="Google Shape;34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225" y="1262538"/>
            <a:ext cx="265625" cy="26562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1"/>
          <p:cNvSpPr/>
          <p:nvPr/>
        </p:nvSpPr>
        <p:spPr>
          <a:xfrm>
            <a:off x="550625" y="2263938"/>
            <a:ext cx="1824900" cy="1051500"/>
          </a:xfrm>
          <a:prstGeom prst="roundRect">
            <a:avLst>
              <a:gd name="adj" fmla="val 3047"/>
            </a:avLst>
          </a:prstGeom>
          <a:solidFill>
            <a:srgbClr val="F3F3F3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31"/>
          <p:cNvSpPr txBox="1"/>
          <p:nvPr/>
        </p:nvSpPr>
        <p:spPr>
          <a:xfrm>
            <a:off x="510441" y="188341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Key Metrics</a:t>
            </a:r>
            <a:endParaRPr b="1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1"/>
          <p:cNvSpPr txBox="1"/>
          <p:nvPr/>
        </p:nvSpPr>
        <p:spPr>
          <a:xfrm>
            <a:off x="594225" y="2345600"/>
            <a:ext cx="1824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Style Conformance Score (SCS)</a:t>
            </a:r>
            <a:endParaRPr sz="1000" b="1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1"/>
          <p:cNvSpPr txBox="1"/>
          <p:nvPr/>
        </p:nvSpPr>
        <p:spPr>
          <a:xfrm>
            <a:off x="633475" y="2601438"/>
            <a:ext cx="16389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Cosine sim: response vs. FSLSM style descriptor</a:t>
            </a:r>
            <a:endParaRPr sz="10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1"/>
          <p:cNvSpPr txBox="1"/>
          <p:nvPr/>
        </p:nvSpPr>
        <p:spPr>
          <a:xfrm>
            <a:off x="510450" y="3365829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Projected Results</a:t>
            </a:r>
            <a:endParaRPr b="1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1"/>
          <p:cNvSpPr/>
          <p:nvPr/>
        </p:nvSpPr>
        <p:spPr>
          <a:xfrm>
            <a:off x="2465513" y="2264950"/>
            <a:ext cx="1824900" cy="1051500"/>
          </a:xfrm>
          <a:prstGeom prst="roundRect">
            <a:avLst>
              <a:gd name="adj" fmla="val 3047"/>
            </a:avLst>
          </a:prstGeom>
          <a:solidFill>
            <a:srgbClr val="F3F3F3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31"/>
          <p:cNvSpPr/>
          <p:nvPr/>
        </p:nvSpPr>
        <p:spPr>
          <a:xfrm>
            <a:off x="4380413" y="2275875"/>
            <a:ext cx="1824900" cy="1051500"/>
          </a:xfrm>
          <a:prstGeom prst="roundRect">
            <a:avLst>
              <a:gd name="adj" fmla="val 3047"/>
            </a:avLst>
          </a:prstGeom>
          <a:solidFill>
            <a:srgbClr val="F3F3F3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31"/>
          <p:cNvSpPr/>
          <p:nvPr/>
        </p:nvSpPr>
        <p:spPr>
          <a:xfrm>
            <a:off x="6295313" y="2275875"/>
            <a:ext cx="1824900" cy="1051500"/>
          </a:xfrm>
          <a:prstGeom prst="roundRect">
            <a:avLst>
              <a:gd name="adj" fmla="val 3047"/>
            </a:avLst>
          </a:prstGeom>
          <a:solidFill>
            <a:srgbClr val="F3F3F3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31"/>
          <p:cNvSpPr txBox="1"/>
          <p:nvPr/>
        </p:nvSpPr>
        <p:spPr>
          <a:xfrm>
            <a:off x="2518950" y="2345600"/>
            <a:ext cx="1741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Response Relevance (PR)</a:t>
            </a:r>
            <a:endParaRPr sz="1000" b="1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2558525" y="2676488"/>
            <a:ext cx="16389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LLM-as-a-Judge: 1-5 vs. ground truth</a:t>
            </a:r>
            <a:endParaRPr sz="9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1"/>
          <p:cNvSpPr txBox="1"/>
          <p:nvPr/>
        </p:nvSpPr>
        <p:spPr>
          <a:xfrm>
            <a:off x="4412500" y="2345600"/>
            <a:ext cx="1741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Chunk Recall@5</a:t>
            </a:r>
            <a:endParaRPr sz="1000" b="1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1"/>
          <p:cNvSpPr txBox="1"/>
          <p:nvPr/>
        </p:nvSpPr>
        <p:spPr>
          <a:xfrm>
            <a:off x="4456475" y="2676500"/>
            <a:ext cx="15798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Fraction of gold chunks in top-5 retrieved</a:t>
            </a:r>
            <a:endParaRPr sz="9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1"/>
          <p:cNvSpPr txBox="1"/>
          <p:nvPr/>
        </p:nvSpPr>
        <p:spPr>
          <a:xfrm>
            <a:off x="6388325" y="2345600"/>
            <a:ext cx="1131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Essential Recall</a:t>
            </a:r>
            <a:endParaRPr sz="1000" b="1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1"/>
          <p:cNvSpPr txBox="1"/>
          <p:nvPr/>
        </p:nvSpPr>
        <p:spPr>
          <a:xfrm>
            <a:off x="6417875" y="2676500"/>
            <a:ext cx="15798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Must-have chunks found by retriever</a:t>
            </a:r>
            <a:endParaRPr sz="9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4" name="Google Shape;364;p31"/>
          <p:cNvGraphicFramePr/>
          <p:nvPr/>
        </p:nvGraphicFramePr>
        <p:xfrm>
          <a:off x="550625" y="3872275"/>
          <a:ext cx="7560025" cy="866077"/>
        </p:xfrm>
        <a:graphic>
          <a:graphicData uri="http://schemas.openxmlformats.org/drawingml/2006/table">
            <a:tbl>
              <a:tblPr>
                <a:noFill/>
                <a:tableStyleId>{84B9D12A-2C3D-47DC-ADC3-D64EFF472797}</a:tableStyleId>
              </a:tblPr>
              <a:tblGrid>
                <a:gridCol w="174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5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3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7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117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endParaRPr sz="1000" b="1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38100" marB="38100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SCS</a:t>
                      </a:r>
                      <a:endParaRPr sz="1000" b="1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38100" marB="38100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RR (Judge)</a:t>
                      </a:r>
                      <a:endParaRPr sz="1000" b="1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38100" marB="38100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Chunk Recall@5</a:t>
                      </a:r>
                      <a:endParaRPr sz="1000" b="1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38100" marB="38100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Essential Recall</a:t>
                      </a:r>
                      <a:endParaRPr sz="1000" b="1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38100" marB="38100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Engagement</a:t>
                      </a:r>
                      <a:endParaRPr sz="1000" b="1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38100" marB="38100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Non-Pers. Baseline (R0)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38100" marB="38100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0.45 ± 0.12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38100" marB="38100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4.1 ± 0.5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38100" marB="38100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0.42 ± 0.10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38100" marB="38100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0.48 ± 0.12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38100" marB="38100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3.2 ± 0.8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38100" marB="38100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FSLSM Tutor (R1)</a:t>
                      </a:r>
                      <a:endParaRPr sz="10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38100" marB="38100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0.70 ± 0.10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38100" marB="38100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4.2 ± 0.4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38100" marB="38100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0.50 ± 0.10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38100" marB="38100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0.55 ± 0.11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38100" marB="38100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4.5 ± 0.6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38100" marB="38100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65" name="Google Shape;365;p31"/>
          <p:cNvSpPr/>
          <p:nvPr/>
        </p:nvSpPr>
        <p:spPr>
          <a:xfrm>
            <a:off x="8724600" y="0"/>
            <a:ext cx="419400" cy="51435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2"/>
          <p:cNvSpPr/>
          <p:nvPr/>
        </p:nvSpPr>
        <p:spPr>
          <a:xfrm>
            <a:off x="644350" y="1186325"/>
            <a:ext cx="7647000" cy="844500"/>
          </a:xfrm>
          <a:prstGeom prst="roundRect">
            <a:avLst>
              <a:gd name="adj" fmla="val 3047"/>
            </a:avLst>
          </a:prstGeom>
          <a:solidFill>
            <a:srgbClr val="F3F3F3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32"/>
          <p:cNvSpPr txBox="1"/>
          <p:nvPr/>
        </p:nvSpPr>
        <p:spPr>
          <a:xfrm>
            <a:off x="418025" y="468350"/>
            <a:ext cx="49023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>
                <a:solidFill>
                  <a:srgbClr val="252827"/>
                </a:solidFill>
                <a:latin typeface="Oswald"/>
                <a:ea typeface="Oswald"/>
                <a:cs typeface="Oswald"/>
                <a:sym typeface="Oswald"/>
              </a:rPr>
              <a:t>4. EXPERIMENTAL DESIGN : EXP3-QA3</a:t>
            </a:r>
            <a:endParaRPr sz="2300" b="1">
              <a:solidFill>
                <a:srgbClr val="252827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 b="1">
              <a:solidFill>
                <a:srgbClr val="252827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72" name="Google Shape;372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373" name="Google Shape;373;p32"/>
          <p:cNvSpPr/>
          <p:nvPr/>
        </p:nvSpPr>
        <p:spPr>
          <a:xfrm>
            <a:off x="510450" y="984075"/>
            <a:ext cx="646800" cy="1113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BA8EB"/>
              </a:solidFill>
            </a:endParaRPr>
          </a:p>
        </p:txBody>
      </p:sp>
      <p:sp>
        <p:nvSpPr>
          <p:cNvPr id="374" name="Google Shape;374;p32"/>
          <p:cNvSpPr txBox="1"/>
          <p:nvPr/>
        </p:nvSpPr>
        <p:spPr>
          <a:xfrm>
            <a:off x="935050" y="1198475"/>
            <a:ext cx="7537500" cy="7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Ablation Study: Comparing tool-handling architectures across 4000 sessions</a:t>
            </a:r>
            <a:endParaRPr sz="13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Char char="-"/>
            </a:pPr>
            <a:r>
              <a:rPr lang="en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Tool corpus: 8 - 16 diverse MCP tools</a:t>
            </a:r>
            <a:endParaRPr sz="10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Char char="-"/>
            </a:pPr>
            <a:r>
              <a:rPr lang="en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Ground truth: optimal tool pre-defined per query type × FSLSM dimension</a:t>
            </a:r>
            <a:endParaRPr sz="13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5" name="Google Shape;37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050" y="1299223"/>
            <a:ext cx="265600" cy="22695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2"/>
          <p:cNvSpPr txBox="1"/>
          <p:nvPr/>
        </p:nvSpPr>
        <p:spPr>
          <a:xfrm>
            <a:off x="510441" y="208086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Key Metrics</a:t>
            </a:r>
            <a:endParaRPr b="1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2"/>
          <p:cNvSpPr txBox="1"/>
          <p:nvPr/>
        </p:nvSpPr>
        <p:spPr>
          <a:xfrm>
            <a:off x="510450" y="3264029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Projected Results</a:t>
            </a:r>
            <a:endParaRPr b="1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2"/>
          <p:cNvSpPr/>
          <p:nvPr/>
        </p:nvSpPr>
        <p:spPr>
          <a:xfrm>
            <a:off x="659700" y="2445813"/>
            <a:ext cx="3652800" cy="812400"/>
          </a:xfrm>
          <a:prstGeom prst="roundRect">
            <a:avLst>
              <a:gd name="adj" fmla="val 3047"/>
            </a:avLst>
          </a:prstGeom>
          <a:solidFill>
            <a:srgbClr val="F3F3F3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32"/>
          <p:cNvSpPr/>
          <p:nvPr/>
        </p:nvSpPr>
        <p:spPr>
          <a:xfrm>
            <a:off x="4572000" y="2445813"/>
            <a:ext cx="3652800" cy="812400"/>
          </a:xfrm>
          <a:prstGeom prst="roundRect">
            <a:avLst>
              <a:gd name="adj" fmla="val 3047"/>
            </a:avLst>
          </a:prstGeom>
          <a:solidFill>
            <a:srgbClr val="F3F3F3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380" name="Google Shape;380;p32"/>
          <p:cNvGraphicFramePr/>
          <p:nvPr/>
        </p:nvGraphicFramePr>
        <p:xfrm>
          <a:off x="748538" y="3759775"/>
          <a:ext cx="7646900" cy="1047750"/>
        </p:xfrm>
        <a:graphic>
          <a:graphicData uri="http://schemas.openxmlformats.org/drawingml/2006/table">
            <a:tbl>
              <a:tblPr>
                <a:noFill/>
                <a:tableStyleId>{84B9D12A-2C3D-47DC-ADC3-D64EFF472797}</a:tableStyleId>
              </a:tblPr>
              <a:tblGrid>
                <a:gridCol w="2959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8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6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Architecture</a:t>
                      </a:r>
                      <a:endParaRPr sz="10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PTS</a:t>
                      </a:r>
                      <a:endParaRPr sz="10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TSA</a:t>
                      </a:r>
                      <a:endParaRPr sz="10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Standard RAG (Baseline)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14.2% ± 3.5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RAG-MCP Unconditioned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30–40%</a:t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35.5% ± 5.0</a:t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RAG-MCP + FSLSM (Proposed)</a:t>
                      </a:r>
                      <a:endParaRPr sz="10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2D8B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30–50%</a:t>
                      </a:r>
                      <a:endParaRPr sz="1000" b="1">
                        <a:solidFill>
                          <a:srgbClr val="2D8B5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2D8B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45.5% ± 5.0</a:t>
                      </a:r>
                      <a:endParaRPr sz="1000" b="1">
                        <a:solidFill>
                          <a:srgbClr val="2D8B5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1" name="Google Shape;381;p32"/>
          <p:cNvSpPr txBox="1"/>
          <p:nvPr/>
        </p:nvSpPr>
        <p:spPr>
          <a:xfrm>
            <a:off x="814350" y="2531088"/>
            <a:ext cx="3000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Prompt Token Savings (PTS)</a:t>
            </a:r>
            <a:br>
              <a:rPr lang="en" sz="11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000" b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Reduction of input tokens per session</a:t>
            </a:r>
            <a:endParaRPr sz="10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2"/>
          <p:cNvSpPr txBox="1"/>
          <p:nvPr/>
        </p:nvSpPr>
        <p:spPr>
          <a:xfrm>
            <a:off x="4706900" y="2512113"/>
            <a:ext cx="3000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Tool Selection Accuracy (TSA)</a:t>
            </a:r>
            <a:endParaRPr sz="1100" b="1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Precision of choosing the optimal pedagogical tool</a:t>
            </a:r>
            <a:endParaRPr sz="10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2"/>
          <p:cNvSpPr/>
          <p:nvPr/>
        </p:nvSpPr>
        <p:spPr>
          <a:xfrm>
            <a:off x="8724600" y="0"/>
            <a:ext cx="419400" cy="51435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3"/>
          <p:cNvSpPr/>
          <p:nvPr/>
        </p:nvSpPr>
        <p:spPr>
          <a:xfrm>
            <a:off x="524675" y="307100"/>
            <a:ext cx="991200" cy="1113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pic>
        <p:nvPicPr>
          <p:cNvPr id="390" name="Google Shape;39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70800"/>
            <a:ext cx="8167658" cy="4324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4"/>
          <p:cNvSpPr/>
          <p:nvPr/>
        </p:nvSpPr>
        <p:spPr>
          <a:xfrm>
            <a:off x="512350" y="1655000"/>
            <a:ext cx="2226300" cy="31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252827"/>
                </a:solidFill>
                <a:latin typeface="Montserrat"/>
                <a:ea typeface="Montserrat"/>
                <a:cs typeface="Montserrat"/>
                <a:sym typeface="Montserrat"/>
              </a:rPr>
              <a:t>Literature Review</a:t>
            </a:r>
            <a:endParaRPr sz="1000" b="1">
              <a:solidFill>
                <a:srgbClr val="25282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B44257"/>
                </a:solidFill>
                <a:latin typeface="Montserrat"/>
                <a:ea typeface="Montserrat"/>
                <a:cs typeface="Montserrat"/>
                <a:sym typeface="Montserrat"/>
              </a:rPr>
              <a:t>Proposal Defense</a:t>
            </a:r>
            <a:endParaRPr sz="1000" b="1">
              <a:solidFill>
                <a:srgbClr val="B4425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252827"/>
                </a:solidFill>
                <a:latin typeface="Montserrat"/>
                <a:ea typeface="Montserrat"/>
                <a:cs typeface="Montserrat"/>
                <a:sym typeface="Montserrat"/>
              </a:rPr>
              <a:t>Development</a:t>
            </a:r>
            <a:endParaRPr sz="1000" b="1">
              <a:solidFill>
                <a:srgbClr val="25282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252827"/>
                </a:solidFill>
                <a:latin typeface="Montserrat"/>
                <a:ea typeface="Montserrat"/>
                <a:cs typeface="Montserrat"/>
                <a:sym typeface="Montserrat"/>
              </a:rPr>
              <a:t>Experiment</a:t>
            </a:r>
            <a:endParaRPr sz="1000" b="1">
              <a:solidFill>
                <a:srgbClr val="25282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B44257"/>
                </a:solidFill>
                <a:latin typeface="Montserrat"/>
                <a:ea typeface="Montserrat"/>
                <a:cs typeface="Montserrat"/>
                <a:sym typeface="Montserrat"/>
              </a:rPr>
              <a:t>Progress Defense</a:t>
            </a:r>
            <a:endParaRPr sz="1000" b="1">
              <a:solidFill>
                <a:srgbClr val="B4425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252827"/>
                </a:solidFill>
                <a:latin typeface="Montserrat"/>
                <a:ea typeface="Montserrat"/>
                <a:cs typeface="Montserrat"/>
                <a:sym typeface="Montserrat"/>
              </a:rPr>
              <a:t>Analysis</a:t>
            </a:r>
            <a:endParaRPr sz="1000" b="1">
              <a:solidFill>
                <a:srgbClr val="25282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252827"/>
                </a:solidFill>
                <a:latin typeface="Montserrat"/>
                <a:ea typeface="Montserrat"/>
                <a:cs typeface="Montserrat"/>
                <a:sym typeface="Montserrat"/>
              </a:rPr>
              <a:t>Writing</a:t>
            </a:r>
            <a:endParaRPr sz="1000" b="1">
              <a:solidFill>
                <a:srgbClr val="25282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252827"/>
                </a:solidFill>
                <a:latin typeface="Montserrat"/>
                <a:ea typeface="Montserrat"/>
                <a:cs typeface="Montserrat"/>
                <a:sym typeface="Montserrat"/>
              </a:rPr>
              <a:t>Publication</a:t>
            </a:r>
            <a:endParaRPr sz="1000" b="1">
              <a:solidFill>
                <a:srgbClr val="25282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B44257"/>
                </a:solidFill>
                <a:latin typeface="Montserrat"/>
                <a:ea typeface="Montserrat"/>
                <a:cs typeface="Montserrat"/>
                <a:sym typeface="Montserrat"/>
              </a:rPr>
              <a:t>Final Defense</a:t>
            </a:r>
            <a:endParaRPr sz="1000" b="1">
              <a:solidFill>
                <a:srgbClr val="B4425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25282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2528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6" name="Google Shape;396;p34"/>
          <p:cNvSpPr/>
          <p:nvPr/>
        </p:nvSpPr>
        <p:spPr>
          <a:xfrm>
            <a:off x="2738889" y="2365941"/>
            <a:ext cx="6012900" cy="145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52827"/>
              </a:solidFill>
            </a:endParaRPr>
          </a:p>
        </p:txBody>
      </p:sp>
      <p:sp>
        <p:nvSpPr>
          <p:cNvPr id="397" name="Google Shape;397;p34"/>
          <p:cNvSpPr/>
          <p:nvPr/>
        </p:nvSpPr>
        <p:spPr>
          <a:xfrm>
            <a:off x="2738889" y="1731267"/>
            <a:ext cx="6012900" cy="145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52827"/>
              </a:solidFill>
            </a:endParaRPr>
          </a:p>
        </p:txBody>
      </p:sp>
      <p:sp>
        <p:nvSpPr>
          <p:cNvPr id="398" name="Google Shape;398;p34"/>
          <p:cNvSpPr/>
          <p:nvPr/>
        </p:nvSpPr>
        <p:spPr>
          <a:xfrm>
            <a:off x="2738889" y="2053506"/>
            <a:ext cx="6012900" cy="145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52827"/>
              </a:solidFill>
            </a:endParaRPr>
          </a:p>
        </p:txBody>
      </p:sp>
      <p:sp>
        <p:nvSpPr>
          <p:cNvPr id="399" name="Google Shape;399;p34"/>
          <p:cNvSpPr/>
          <p:nvPr/>
        </p:nvSpPr>
        <p:spPr>
          <a:xfrm>
            <a:off x="2738889" y="2656607"/>
            <a:ext cx="6012900" cy="145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52827"/>
              </a:solidFill>
            </a:endParaRPr>
          </a:p>
        </p:txBody>
      </p:sp>
      <p:sp>
        <p:nvSpPr>
          <p:cNvPr id="400" name="Google Shape;400;p34"/>
          <p:cNvSpPr/>
          <p:nvPr/>
        </p:nvSpPr>
        <p:spPr>
          <a:xfrm>
            <a:off x="2738889" y="2976973"/>
            <a:ext cx="6012900" cy="145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B44257"/>
              </a:solidFill>
            </a:endParaRPr>
          </a:p>
        </p:txBody>
      </p:sp>
      <p:sp>
        <p:nvSpPr>
          <p:cNvPr id="401" name="Google Shape;401;p34"/>
          <p:cNvSpPr/>
          <p:nvPr/>
        </p:nvSpPr>
        <p:spPr>
          <a:xfrm>
            <a:off x="2738889" y="4198422"/>
            <a:ext cx="6012900" cy="145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B44257"/>
              </a:solidFill>
            </a:endParaRPr>
          </a:p>
        </p:txBody>
      </p:sp>
      <p:sp>
        <p:nvSpPr>
          <p:cNvPr id="402" name="Google Shape;402;p34"/>
          <p:cNvSpPr/>
          <p:nvPr/>
        </p:nvSpPr>
        <p:spPr>
          <a:xfrm>
            <a:off x="2738889" y="3886714"/>
            <a:ext cx="6012900" cy="145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B44257"/>
              </a:solidFill>
            </a:endParaRPr>
          </a:p>
        </p:txBody>
      </p:sp>
      <p:sp>
        <p:nvSpPr>
          <p:cNvPr id="403" name="Google Shape;403;p34"/>
          <p:cNvSpPr/>
          <p:nvPr/>
        </p:nvSpPr>
        <p:spPr>
          <a:xfrm>
            <a:off x="2738889" y="3585160"/>
            <a:ext cx="6012900" cy="145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B44257"/>
              </a:solidFill>
            </a:endParaRPr>
          </a:p>
        </p:txBody>
      </p:sp>
      <p:sp>
        <p:nvSpPr>
          <p:cNvPr id="404" name="Google Shape;404;p34"/>
          <p:cNvSpPr/>
          <p:nvPr/>
        </p:nvSpPr>
        <p:spPr>
          <a:xfrm>
            <a:off x="2738889" y="3262917"/>
            <a:ext cx="6012900" cy="145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B44257"/>
              </a:solidFill>
            </a:endParaRPr>
          </a:p>
        </p:txBody>
      </p:sp>
      <p:sp>
        <p:nvSpPr>
          <p:cNvPr id="405" name="Google Shape;405;p34"/>
          <p:cNvSpPr/>
          <p:nvPr/>
        </p:nvSpPr>
        <p:spPr>
          <a:xfrm>
            <a:off x="2738889" y="1435109"/>
            <a:ext cx="429900" cy="296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700" b="1">
                <a:solidFill>
                  <a:srgbClr val="252827"/>
                </a:solidFill>
                <a:latin typeface="Montserrat"/>
                <a:ea typeface="Montserrat"/>
                <a:cs typeface="Montserrat"/>
                <a:sym typeface="Montserrat"/>
              </a:rPr>
              <a:t>JUN</a:t>
            </a:r>
            <a:endParaRPr sz="700" b="1">
              <a:solidFill>
                <a:srgbClr val="2528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6" name="Google Shape;406;p34"/>
          <p:cNvSpPr/>
          <p:nvPr/>
        </p:nvSpPr>
        <p:spPr>
          <a:xfrm>
            <a:off x="3169046" y="1435109"/>
            <a:ext cx="429900" cy="296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700" b="1">
                <a:solidFill>
                  <a:srgbClr val="252827"/>
                </a:solidFill>
                <a:latin typeface="Montserrat"/>
                <a:ea typeface="Montserrat"/>
                <a:cs typeface="Montserrat"/>
                <a:sym typeface="Montserrat"/>
              </a:rPr>
              <a:t>JUL</a:t>
            </a:r>
            <a:endParaRPr sz="700" b="1">
              <a:solidFill>
                <a:srgbClr val="2528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7" name="Google Shape;407;p34"/>
          <p:cNvSpPr/>
          <p:nvPr/>
        </p:nvSpPr>
        <p:spPr>
          <a:xfrm>
            <a:off x="3599204" y="1435109"/>
            <a:ext cx="429900" cy="296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700" b="1">
                <a:solidFill>
                  <a:srgbClr val="252827"/>
                </a:solidFill>
                <a:latin typeface="Montserrat"/>
                <a:ea typeface="Montserrat"/>
                <a:cs typeface="Montserrat"/>
                <a:sym typeface="Montserrat"/>
              </a:rPr>
              <a:t>AUG</a:t>
            </a:r>
            <a:endParaRPr sz="700" b="1">
              <a:solidFill>
                <a:srgbClr val="2528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8" name="Google Shape;408;p34"/>
          <p:cNvSpPr/>
          <p:nvPr/>
        </p:nvSpPr>
        <p:spPr>
          <a:xfrm>
            <a:off x="4029361" y="1435109"/>
            <a:ext cx="429900" cy="296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700" b="1">
                <a:solidFill>
                  <a:srgbClr val="252827"/>
                </a:solidFill>
                <a:latin typeface="Montserrat"/>
                <a:ea typeface="Montserrat"/>
                <a:cs typeface="Montserrat"/>
                <a:sym typeface="Montserrat"/>
              </a:rPr>
              <a:t>SEP</a:t>
            </a:r>
            <a:endParaRPr sz="700" b="1">
              <a:solidFill>
                <a:srgbClr val="2528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9" name="Google Shape;409;p34"/>
          <p:cNvSpPr/>
          <p:nvPr/>
        </p:nvSpPr>
        <p:spPr>
          <a:xfrm>
            <a:off x="4450508" y="1435109"/>
            <a:ext cx="429900" cy="296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700" b="1">
                <a:solidFill>
                  <a:srgbClr val="252827"/>
                </a:solidFill>
                <a:latin typeface="Montserrat"/>
                <a:ea typeface="Montserrat"/>
                <a:cs typeface="Montserrat"/>
                <a:sym typeface="Montserrat"/>
              </a:rPr>
              <a:t>OCT</a:t>
            </a:r>
            <a:endParaRPr sz="700" b="1">
              <a:solidFill>
                <a:srgbClr val="2528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0" name="Google Shape;410;p34"/>
          <p:cNvSpPr/>
          <p:nvPr/>
        </p:nvSpPr>
        <p:spPr>
          <a:xfrm>
            <a:off x="4880666" y="1435109"/>
            <a:ext cx="429900" cy="296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700" b="1">
                <a:solidFill>
                  <a:srgbClr val="252827"/>
                </a:solidFill>
                <a:latin typeface="Montserrat"/>
                <a:ea typeface="Montserrat"/>
                <a:cs typeface="Montserrat"/>
                <a:sym typeface="Montserrat"/>
              </a:rPr>
              <a:t>NOV</a:t>
            </a:r>
            <a:endParaRPr sz="700" b="1">
              <a:solidFill>
                <a:srgbClr val="2528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1" name="Google Shape;411;p34"/>
          <p:cNvSpPr/>
          <p:nvPr/>
        </p:nvSpPr>
        <p:spPr>
          <a:xfrm>
            <a:off x="5310823" y="1435109"/>
            <a:ext cx="429900" cy="296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700" b="1">
                <a:solidFill>
                  <a:srgbClr val="252827"/>
                </a:solidFill>
                <a:latin typeface="Montserrat"/>
                <a:ea typeface="Montserrat"/>
                <a:cs typeface="Montserrat"/>
                <a:sym typeface="Montserrat"/>
              </a:rPr>
              <a:t>DEC</a:t>
            </a:r>
            <a:endParaRPr sz="700" b="1">
              <a:solidFill>
                <a:srgbClr val="2528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2" name="Google Shape;412;p34"/>
          <p:cNvSpPr/>
          <p:nvPr/>
        </p:nvSpPr>
        <p:spPr>
          <a:xfrm>
            <a:off x="5740980" y="1435109"/>
            <a:ext cx="429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700" b="1">
                <a:solidFill>
                  <a:srgbClr val="252827"/>
                </a:solidFill>
                <a:latin typeface="Montserrat"/>
                <a:ea typeface="Montserrat"/>
                <a:cs typeface="Montserrat"/>
                <a:sym typeface="Montserrat"/>
              </a:rPr>
              <a:t>JAN</a:t>
            </a:r>
            <a:endParaRPr sz="700" b="1">
              <a:solidFill>
                <a:srgbClr val="2528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3" name="Google Shape;413;p34"/>
          <p:cNvSpPr/>
          <p:nvPr/>
        </p:nvSpPr>
        <p:spPr>
          <a:xfrm>
            <a:off x="6171137" y="1435109"/>
            <a:ext cx="429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700" b="1">
                <a:solidFill>
                  <a:srgbClr val="252827"/>
                </a:solidFill>
                <a:latin typeface="Montserrat"/>
                <a:ea typeface="Montserrat"/>
                <a:cs typeface="Montserrat"/>
                <a:sym typeface="Montserrat"/>
              </a:rPr>
              <a:t>FEB</a:t>
            </a:r>
            <a:endParaRPr sz="700" b="1">
              <a:solidFill>
                <a:srgbClr val="2528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4" name="Google Shape;414;p34"/>
          <p:cNvSpPr/>
          <p:nvPr/>
        </p:nvSpPr>
        <p:spPr>
          <a:xfrm>
            <a:off x="6601294" y="1435109"/>
            <a:ext cx="429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700" b="1">
                <a:solidFill>
                  <a:srgbClr val="252827"/>
                </a:solidFill>
                <a:latin typeface="Montserrat"/>
                <a:ea typeface="Montserrat"/>
                <a:cs typeface="Montserrat"/>
                <a:sym typeface="Montserrat"/>
              </a:rPr>
              <a:t>MAR</a:t>
            </a:r>
            <a:endParaRPr sz="700" b="1">
              <a:solidFill>
                <a:srgbClr val="2528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5" name="Google Shape;415;p34"/>
          <p:cNvSpPr/>
          <p:nvPr/>
        </p:nvSpPr>
        <p:spPr>
          <a:xfrm>
            <a:off x="7031451" y="1435109"/>
            <a:ext cx="429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700" b="1">
                <a:solidFill>
                  <a:srgbClr val="252827"/>
                </a:solidFill>
                <a:latin typeface="Montserrat"/>
                <a:ea typeface="Montserrat"/>
                <a:cs typeface="Montserrat"/>
                <a:sym typeface="Montserrat"/>
              </a:rPr>
              <a:t>APR</a:t>
            </a:r>
            <a:endParaRPr sz="700" b="1">
              <a:solidFill>
                <a:srgbClr val="2528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6" name="Google Shape;416;p34"/>
          <p:cNvSpPr/>
          <p:nvPr/>
        </p:nvSpPr>
        <p:spPr>
          <a:xfrm>
            <a:off x="7461608" y="1435109"/>
            <a:ext cx="429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700" b="1">
                <a:solidFill>
                  <a:srgbClr val="252827"/>
                </a:solidFill>
                <a:latin typeface="Montserrat"/>
                <a:ea typeface="Montserrat"/>
                <a:cs typeface="Montserrat"/>
                <a:sym typeface="Montserrat"/>
              </a:rPr>
              <a:t>MAY</a:t>
            </a:r>
            <a:endParaRPr sz="700" b="1">
              <a:solidFill>
                <a:srgbClr val="2528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7" name="Google Shape;417;p34"/>
          <p:cNvSpPr/>
          <p:nvPr/>
        </p:nvSpPr>
        <p:spPr>
          <a:xfrm>
            <a:off x="7891765" y="1435109"/>
            <a:ext cx="429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700" b="1">
                <a:solidFill>
                  <a:srgbClr val="252827"/>
                </a:solidFill>
                <a:latin typeface="Montserrat"/>
                <a:ea typeface="Montserrat"/>
                <a:cs typeface="Montserrat"/>
                <a:sym typeface="Montserrat"/>
              </a:rPr>
              <a:t>JUN</a:t>
            </a:r>
            <a:endParaRPr sz="700" b="1">
              <a:solidFill>
                <a:srgbClr val="2528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8" name="Google Shape;418;p34"/>
          <p:cNvSpPr/>
          <p:nvPr/>
        </p:nvSpPr>
        <p:spPr>
          <a:xfrm>
            <a:off x="8321922" y="1435109"/>
            <a:ext cx="429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700" b="1">
                <a:solidFill>
                  <a:srgbClr val="252827"/>
                </a:solidFill>
                <a:latin typeface="Montserrat"/>
                <a:ea typeface="Montserrat"/>
                <a:cs typeface="Montserrat"/>
                <a:sym typeface="Montserrat"/>
              </a:rPr>
              <a:t>JUL</a:t>
            </a:r>
            <a:endParaRPr sz="700" b="1">
              <a:solidFill>
                <a:srgbClr val="2528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9" name="Google Shape;419;p34"/>
          <p:cNvSpPr/>
          <p:nvPr/>
        </p:nvSpPr>
        <p:spPr>
          <a:xfrm>
            <a:off x="2739053" y="1138950"/>
            <a:ext cx="3002100" cy="296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300" b="1">
                <a:solidFill>
                  <a:srgbClr val="252827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sz="1300" b="1">
              <a:solidFill>
                <a:srgbClr val="2528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0" name="Google Shape;420;p34"/>
          <p:cNvSpPr/>
          <p:nvPr/>
        </p:nvSpPr>
        <p:spPr>
          <a:xfrm>
            <a:off x="5731970" y="1138950"/>
            <a:ext cx="30021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300" b="1">
                <a:solidFill>
                  <a:srgbClr val="252827"/>
                </a:solidFill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sz="1300" b="1">
              <a:solidFill>
                <a:srgbClr val="2528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1" name="Google Shape;421;p34"/>
          <p:cNvSpPr/>
          <p:nvPr/>
        </p:nvSpPr>
        <p:spPr>
          <a:xfrm>
            <a:off x="2739050" y="1731275"/>
            <a:ext cx="3563700" cy="1452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52827"/>
              </a:solidFill>
            </a:endParaRPr>
          </a:p>
        </p:txBody>
      </p:sp>
      <p:sp>
        <p:nvSpPr>
          <p:cNvPr id="422" name="Google Shape;422;p34"/>
          <p:cNvSpPr/>
          <p:nvPr/>
        </p:nvSpPr>
        <p:spPr>
          <a:xfrm>
            <a:off x="5741150" y="2048624"/>
            <a:ext cx="946200" cy="1452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52827"/>
              </a:solidFill>
            </a:endParaRPr>
          </a:p>
        </p:txBody>
      </p:sp>
      <p:sp>
        <p:nvSpPr>
          <p:cNvPr id="423" name="Google Shape;423;p34"/>
          <p:cNvSpPr/>
          <p:nvPr/>
        </p:nvSpPr>
        <p:spPr>
          <a:xfrm>
            <a:off x="6302750" y="2358975"/>
            <a:ext cx="991200" cy="1452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52827"/>
              </a:solidFill>
            </a:endParaRPr>
          </a:p>
        </p:txBody>
      </p:sp>
      <p:sp>
        <p:nvSpPr>
          <p:cNvPr id="424" name="Google Shape;424;p34"/>
          <p:cNvSpPr/>
          <p:nvPr/>
        </p:nvSpPr>
        <p:spPr>
          <a:xfrm flipH="1">
            <a:off x="6302800" y="2659375"/>
            <a:ext cx="1219200" cy="1452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52827"/>
              </a:solidFill>
            </a:endParaRPr>
          </a:p>
        </p:txBody>
      </p:sp>
      <p:sp>
        <p:nvSpPr>
          <p:cNvPr id="425" name="Google Shape;425;p34"/>
          <p:cNvSpPr/>
          <p:nvPr/>
        </p:nvSpPr>
        <p:spPr>
          <a:xfrm flipH="1">
            <a:off x="7173475" y="2961150"/>
            <a:ext cx="548700" cy="1452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B24A3B"/>
              </a:solidFill>
            </a:endParaRPr>
          </a:p>
        </p:txBody>
      </p:sp>
      <p:sp>
        <p:nvSpPr>
          <p:cNvPr id="426" name="Google Shape;426;p34"/>
          <p:cNvSpPr/>
          <p:nvPr/>
        </p:nvSpPr>
        <p:spPr>
          <a:xfrm>
            <a:off x="7173475" y="3265800"/>
            <a:ext cx="920700" cy="1452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B24A3B"/>
              </a:solidFill>
            </a:endParaRPr>
          </a:p>
        </p:txBody>
      </p:sp>
      <p:sp>
        <p:nvSpPr>
          <p:cNvPr id="427" name="Google Shape;427;p34"/>
          <p:cNvSpPr/>
          <p:nvPr/>
        </p:nvSpPr>
        <p:spPr>
          <a:xfrm>
            <a:off x="7646375" y="3576263"/>
            <a:ext cx="920700" cy="1452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B24A3B"/>
              </a:solidFill>
            </a:endParaRPr>
          </a:p>
        </p:txBody>
      </p:sp>
      <p:sp>
        <p:nvSpPr>
          <p:cNvPr id="428" name="Google Shape;428;p34"/>
          <p:cNvSpPr/>
          <p:nvPr/>
        </p:nvSpPr>
        <p:spPr>
          <a:xfrm flipH="1">
            <a:off x="8155575" y="3887350"/>
            <a:ext cx="514200" cy="1452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B24A3B"/>
              </a:solidFill>
            </a:endParaRPr>
          </a:p>
        </p:txBody>
      </p:sp>
      <p:sp>
        <p:nvSpPr>
          <p:cNvPr id="429" name="Google Shape;429;p34"/>
          <p:cNvSpPr/>
          <p:nvPr/>
        </p:nvSpPr>
        <p:spPr>
          <a:xfrm>
            <a:off x="8321925" y="4189550"/>
            <a:ext cx="429900" cy="1452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B24A3B"/>
              </a:solidFill>
            </a:endParaRPr>
          </a:p>
        </p:txBody>
      </p:sp>
      <p:sp>
        <p:nvSpPr>
          <p:cNvPr id="430" name="Google Shape;430;p34"/>
          <p:cNvSpPr txBox="1"/>
          <p:nvPr/>
        </p:nvSpPr>
        <p:spPr>
          <a:xfrm>
            <a:off x="401900" y="418400"/>
            <a:ext cx="53706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252827"/>
                </a:solidFill>
                <a:latin typeface="Oswald"/>
                <a:ea typeface="Oswald"/>
                <a:cs typeface="Oswald"/>
                <a:sym typeface="Oswald"/>
              </a:rPr>
              <a:t>TENTATIVE WORK PLAN</a:t>
            </a:r>
            <a:endParaRPr sz="2300" b="1">
              <a:solidFill>
                <a:srgbClr val="252827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31" name="Google Shape;431;p34"/>
          <p:cNvSpPr/>
          <p:nvPr/>
        </p:nvSpPr>
        <p:spPr>
          <a:xfrm>
            <a:off x="524675" y="307100"/>
            <a:ext cx="991200" cy="1113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5"/>
          <p:cNvSpPr txBox="1"/>
          <p:nvPr/>
        </p:nvSpPr>
        <p:spPr>
          <a:xfrm>
            <a:off x="401900" y="355500"/>
            <a:ext cx="29007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252827"/>
                </a:solidFill>
                <a:latin typeface="Oswald"/>
                <a:ea typeface="Oswald"/>
                <a:cs typeface="Oswald"/>
                <a:sym typeface="Oswald"/>
              </a:rPr>
              <a:t>REFERENCES</a:t>
            </a:r>
            <a:endParaRPr sz="2300" b="1">
              <a:solidFill>
                <a:srgbClr val="252827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38" name="Google Shape;438;p35"/>
          <p:cNvSpPr/>
          <p:nvPr/>
        </p:nvSpPr>
        <p:spPr>
          <a:xfrm>
            <a:off x="8724600" y="0"/>
            <a:ext cx="419400" cy="51435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35"/>
          <p:cNvSpPr/>
          <p:nvPr/>
        </p:nvSpPr>
        <p:spPr>
          <a:xfrm>
            <a:off x="510450" y="984069"/>
            <a:ext cx="7902300" cy="3858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Pedagogical Foundations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 i="1">
                <a:solidFill>
                  <a:schemeClr val="dk1"/>
                </a:solidFill>
              </a:rPr>
              <a:t>(Learning Styles, Adaptive Education, AI Tutoring &amp; Agent Simulation)</a:t>
            </a:r>
            <a:endParaRPr sz="1100" i="1">
              <a:solidFill>
                <a:schemeClr val="dk1"/>
              </a:solidFill>
            </a:endParaRPr>
          </a:p>
          <a:p>
            <a:pPr marL="457200" lvl="0" indent="-298450" algn="just" rtl="0">
              <a:lnSpc>
                <a:spcPct val="150000"/>
              </a:lnSpc>
              <a:spcBef>
                <a:spcPts val="1599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Al-Azawei, A., &amp; Badii, A. (2014). State of the Art of Learning Styles-Based Adaptive Educational Hypermedia Systems. </a:t>
            </a:r>
            <a:r>
              <a:rPr lang="en" sz="1100" i="1">
                <a:solidFill>
                  <a:schemeClr val="dk1"/>
                </a:solidFill>
              </a:rPr>
              <a:t>International Journal of Computer Science and Information Technology.</a:t>
            </a:r>
            <a:endParaRPr sz="1100" i="1">
              <a:solidFill>
                <a:schemeClr val="dk1"/>
              </a:solidFill>
            </a:endParaRPr>
          </a:p>
          <a:p>
            <a:pPr marL="457200" lvl="0" indent="-298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Angeioplastis, A., et al. (2025). The Learning Style Decoder: FSLSM-Guided Behavior Mapping Meets Deep Neural Prediction in LMS Settings. </a:t>
            </a:r>
            <a:r>
              <a:rPr lang="en" sz="1100" i="1">
                <a:solidFill>
                  <a:schemeClr val="dk1"/>
                </a:solidFill>
              </a:rPr>
              <a:t>Computers, 14</a:t>
            </a:r>
            <a:r>
              <a:rPr lang="en" sz="1100">
                <a:solidFill>
                  <a:schemeClr val="dk1"/>
                </a:solidFill>
              </a:rPr>
              <a:t>(9), 377.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Bernard, J., et al. (2017). Learning Style Identifier: Improving the Precision of Learning Style Identification Through Computational Intelligence Algorithms. </a:t>
            </a:r>
            <a:r>
              <a:rPr lang="en" sz="1100" i="1">
                <a:solidFill>
                  <a:schemeClr val="dk1"/>
                </a:solidFill>
              </a:rPr>
              <a:t>Expert Systems with Applications, 75</a:t>
            </a:r>
            <a:r>
              <a:rPr lang="en" sz="1100">
                <a:solidFill>
                  <a:schemeClr val="dk1"/>
                </a:solidFill>
              </a:rPr>
              <a:t>, 94–108.</a:t>
            </a:r>
            <a:endParaRPr sz="1100" i="1">
              <a:solidFill>
                <a:schemeClr val="dk1"/>
              </a:solidFill>
            </a:endParaRPr>
          </a:p>
          <a:p>
            <a:pPr marL="457200" lvl="0" indent="-298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Felder, R. M., &amp; Soloman, B. A. (1997). Index of Learning Styles Questionnaire. NC State University.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Graf, S., et al. (2007). In-Depth Analysis of the Felder-Silverman Learning Style Dimensions. </a:t>
            </a:r>
            <a:r>
              <a:rPr lang="en" sz="1100" i="1">
                <a:solidFill>
                  <a:schemeClr val="dk1"/>
                </a:solidFill>
              </a:rPr>
              <a:t>Journal of Research on Technology in Education, 40</a:t>
            </a:r>
            <a:r>
              <a:rPr lang="en" sz="1100">
                <a:solidFill>
                  <a:schemeClr val="dk1"/>
                </a:solidFill>
              </a:rPr>
              <a:t>(1), 79–93.</a:t>
            </a:r>
            <a:endParaRPr sz="1100" b="1">
              <a:solidFill>
                <a:schemeClr val="dk1"/>
              </a:solidFill>
            </a:endParaRPr>
          </a:p>
        </p:txBody>
      </p:sp>
      <p:sp>
        <p:nvSpPr>
          <p:cNvPr id="440" name="Google Shape;440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sp>
        <p:nvSpPr>
          <p:cNvPr id="441" name="Google Shape;441;p35"/>
          <p:cNvSpPr/>
          <p:nvPr/>
        </p:nvSpPr>
        <p:spPr>
          <a:xfrm>
            <a:off x="510450" y="984075"/>
            <a:ext cx="646800" cy="1113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BA8EB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6"/>
          <p:cNvSpPr txBox="1"/>
          <p:nvPr/>
        </p:nvSpPr>
        <p:spPr>
          <a:xfrm>
            <a:off x="401900" y="355500"/>
            <a:ext cx="29007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252827"/>
                </a:solidFill>
                <a:latin typeface="Oswald"/>
                <a:ea typeface="Oswald"/>
                <a:cs typeface="Oswald"/>
                <a:sym typeface="Oswald"/>
              </a:rPr>
              <a:t>REFERENCES</a:t>
            </a:r>
            <a:endParaRPr sz="2300" b="1">
              <a:solidFill>
                <a:srgbClr val="252827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47" name="Google Shape;447;p36"/>
          <p:cNvSpPr/>
          <p:nvPr/>
        </p:nvSpPr>
        <p:spPr>
          <a:xfrm>
            <a:off x="8724600" y="0"/>
            <a:ext cx="419400" cy="51435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36"/>
          <p:cNvSpPr/>
          <p:nvPr/>
        </p:nvSpPr>
        <p:spPr>
          <a:xfrm>
            <a:off x="510450" y="984075"/>
            <a:ext cx="7902300" cy="3816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Pedagogical Foundations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 i="1">
                <a:solidFill>
                  <a:schemeClr val="dk1"/>
                </a:solidFill>
              </a:rPr>
              <a:t>(Learning Styles, Adaptive Education, AI Tutoring &amp; Agent Simulation)</a:t>
            </a:r>
            <a:endParaRPr sz="1100" i="1">
              <a:solidFill>
                <a:schemeClr val="dk1"/>
              </a:solidFill>
            </a:endParaRPr>
          </a:p>
          <a:p>
            <a:pPr marL="457200" lvl="0" indent="-298450" algn="just" rtl="0">
              <a:lnSpc>
                <a:spcPct val="150000"/>
              </a:lnSpc>
              <a:spcBef>
                <a:spcPts val="1599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Kaiyrbekov, K., Dobbins, N. J., &amp; Mooney, S. D. (2025). Automated Survey Collection with LLM-Based Conversational Agents.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Olea, C., et al. (2024). Evaluating Persona Prompting for Question Answering Tasks. </a:t>
            </a:r>
            <a:r>
              <a:rPr lang="en" sz="1100" i="1">
                <a:solidFill>
                  <a:schemeClr val="dk1"/>
                </a:solidFill>
              </a:rPr>
              <a:t>10th International Conference on Artificial Intelligence and Soft Computing.</a:t>
            </a:r>
            <a:endParaRPr sz="1100" i="1">
              <a:solidFill>
                <a:schemeClr val="dk1"/>
              </a:solidFill>
            </a:endParaRPr>
          </a:p>
          <a:p>
            <a:pPr marL="457200" lvl="0" indent="-298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Sanyal, D., et al. (2025). Investigating Pedagogical Teacher and Student LLM Agents: Genetic Adaptation Meets Retrieval-Augmented Generation Across Learning Styles.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Slijepcevic, N., &amp; Yaylali, A. (2025). Leveraging "Khanmigo" Generative AI-Powered Tool for Personalized Tutoring to Learn Scientific Concepts. </a:t>
            </a:r>
            <a:r>
              <a:rPr lang="en" sz="1100" i="1">
                <a:solidFill>
                  <a:schemeClr val="dk1"/>
                </a:solidFill>
              </a:rPr>
              <a:t>Journal of Teaching and Learning, 19</a:t>
            </a:r>
            <a:r>
              <a:rPr lang="en" sz="1100">
                <a:solidFill>
                  <a:schemeClr val="dk1"/>
                </a:solidFill>
              </a:rPr>
              <a:t>(4), 155–178.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Soloman, B. A., &amp; Felder, R. M. (n.d.). Index of Learning Styles Questionnaire. NC State University.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Zhang, A., et al. (2021). </a:t>
            </a:r>
            <a:r>
              <a:rPr lang="en" sz="1100" i="1">
                <a:solidFill>
                  <a:schemeClr val="dk1"/>
                </a:solidFill>
              </a:rPr>
              <a:t>Dive into Deep Learning.</a:t>
            </a:r>
            <a:r>
              <a:rPr lang="en" sz="1100">
                <a:solidFill>
                  <a:schemeClr val="dk1"/>
                </a:solidFill>
              </a:rPr>
              <a:t> Cambridge University Press.</a:t>
            </a:r>
            <a:endParaRPr sz="1100" b="1">
              <a:solidFill>
                <a:schemeClr val="dk1"/>
              </a:solidFill>
            </a:endParaRPr>
          </a:p>
        </p:txBody>
      </p:sp>
      <p:sp>
        <p:nvSpPr>
          <p:cNvPr id="449" name="Google Shape;449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sp>
        <p:nvSpPr>
          <p:cNvPr id="450" name="Google Shape;450;p36"/>
          <p:cNvSpPr/>
          <p:nvPr/>
        </p:nvSpPr>
        <p:spPr>
          <a:xfrm>
            <a:off x="510450" y="984075"/>
            <a:ext cx="646800" cy="1113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BA8EB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7"/>
          <p:cNvSpPr txBox="1"/>
          <p:nvPr/>
        </p:nvSpPr>
        <p:spPr>
          <a:xfrm>
            <a:off x="401900" y="355500"/>
            <a:ext cx="29007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252827"/>
                </a:solidFill>
                <a:latin typeface="Oswald"/>
                <a:ea typeface="Oswald"/>
                <a:cs typeface="Oswald"/>
                <a:sym typeface="Oswald"/>
              </a:rPr>
              <a:t>REFERENCES</a:t>
            </a:r>
            <a:endParaRPr sz="2300" b="1">
              <a:solidFill>
                <a:srgbClr val="252827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56" name="Google Shape;456;p37"/>
          <p:cNvSpPr/>
          <p:nvPr/>
        </p:nvSpPr>
        <p:spPr>
          <a:xfrm>
            <a:off x="8724600" y="0"/>
            <a:ext cx="419400" cy="51435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37"/>
          <p:cNvSpPr/>
          <p:nvPr/>
        </p:nvSpPr>
        <p:spPr>
          <a:xfrm>
            <a:off x="510450" y="984075"/>
            <a:ext cx="7902300" cy="3732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Retrieval-Augmented Generation (RAG) and Framework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Zerhoudi, S., &amp; Granitzer, M. (2024). PersonaRAG: Enhancing Retrieval-Augmented Generation Systems with User-Centric Agents. </a:t>
            </a:r>
            <a:r>
              <a:rPr lang="en" sz="1100" i="1">
                <a:solidFill>
                  <a:schemeClr val="dk1"/>
                </a:solidFill>
              </a:rPr>
              <a:t>IR-RAG Workshop at SIGIR 2024.</a:t>
            </a:r>
            <a:r>
              <a:rPr lang="en" sz="1100">
                <a:solidFill>
                  <a:schemeClr val="dk1"/>
                </a:solidFill>
              </a:rPr>
              <a:t> CEUR Workshop Proceedings, Vol. 3784.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Chen, J., et al. (2024). From Persona to Personalization: A Survey on Role-Playing Language Agents. </a:t>
            </a:r>
            <a:r>
              <a:rPr lang="en" sz="1100" i="1">
                <a:solidFill>
                  <a:schemeClr val="dk1"/>
                </a:solidFill>
              </a:rPr>
              <a:t>Transactions on Machine Learning Research.</a:t>
            </a:r>
            <a:endParaRPr sz="1100" i="1">
              <a:solidFill>
                <a:schemeClr val="dk1"/>
              </a:solidFill>
            </a:endParaRPr>
          </a:p>
          <a:p>
            <a:pPr marL="457200" lvl="0" indent="-298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Yao, Y., &amp; González-Vélez, H. (2025). AI-Powered System to Facilitate Personalized Adaptive Learning in Digital Transformation. </a:t>
            </a:r>
            <a:r>
              <a:rPr lang="en" sz="1100" i="1">
                <a:solidFill>
                  <a:schemeClr val="dk1"/>
                </a:solidFill>
              </a:rPr>
              <a:t>Applied Sciences, 15</a:t>
            </a:r>
            <a:r>
              <a:rPr lang="en" sz="1100">
                <a:solidFill>
                  <a:schemeClr val="dk1"/>
                </a:solidFill>
              </a:rPr>
              <a:t>(9), 4989.</a:t>
            </a:r>
            <a:endParaRPr sz="1100" i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Model Context Protocol (MCP)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Gan, T., &amp; Sun, Q. (2025). RAG-MCP: Mitigating Prompt Bloat in LLM Tool Selection via Retrieval-Augmented Generation.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Hou, X., et al. (2025). Model Context Protocol (MCP): Landscape, Security Threats, and Future Research Directions.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Luo, Z., et al. (2025). MCP-Universe: Benchmarking Large Language Models with Real-World Model Context Protocol Servers.</a:t>
            </a:r>
            <a:endParaRPr sz="11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1599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</p:txBody>
      </p:sp>
      <p:sp>
        <p:nvSpPr>
          <p:cNvPr id="458" name="Google Shape;458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sp>
        <p:nvSpPr>
          <p:cNvPr id="459" name="Google Shape;459;p37"/>
          <p:cNvSpPr/>
          <p:nvPr/>
        </p:nvSpPr>
        <p:spPr>
          <a:xfrm>
            <a:off x="510450" y="984075"/>
            <a:ext cx="646800" cy="111300"/>
          </a:xfrm>
          <a:prstGeom prst="rect">
            <a:avLst/>
          </a:prstGeom>
          <a:solidFill>
            <a:srgbClr val="4BA8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BA8EB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38"/>
          <p:cNvPicPr preferRelativeResize="0"/>
          <p:nvPr/>
        </p:nvPicPr>
        <p:blipFill rotWithShape="1">
          <a:blip r:embed="rId3">
            <a:alphaModFix/>
          </a:blip>
          <a:srcRect l="41697" t="42521" r="42379" b="43817"/>
          <a:stretch/>
        </p:blipFill>
        <p:spPr>
          <a:xfrm>
            <a:off x="3886740" y="2571750"/>
            <a:ext cx="1370525" cy="66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38"/>
          <p:cNvSpPr txBox="1"/>
          <p:nvPr/>
        </p:nvSpPr>
        <p:spPr>
          <a:xfrm>
            <a:off x="3121650" y="3232825"/>
            <a:ext cx="2900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252827"/>
                </a:solidFill>
                <a:latin typeface="Oswald"/>
                <a:ea typeface="Oswald"/>
                <a:cs typeface="Oswald"/>
                <a:sym typeface="Oswald"/>
              </a:rPr>
              <a:t>THANK YOU</a:t>
            </a:r>
            <a:endParaRPr sz="2400" b="1">
              <a:solidFill>
                <a:srgbClr val="252827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66" name="Google Shape;466;p38"/>
          <p:cNvSpPr txBox="1"/>
          <p:nvPr/>
        </p:nvSpPr>
        <p:spPr>
          <a:xfrm>
            <a:off x="3121663" y="3643200"/>
            <a:ext cx="290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solidFill>
                  <a:srgbClr val="252827"/>
                </a:solidFill>
                <a:latin typeface="Montserrat"/>
                <a:ea typeface="Montserrat"/>
                <a:cs typeface="Montserrat"/>
                <a:sym typeface="Montserrat"/>
              </a:rPr>
              <a:t>for your attention</a:t>
            </a:r>
            <a:endParaRPr sz="1200" i="1">
              <a:solidFill>
                <a:srgbClr val="2528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7" name="Google Shape;467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DA32E"/>
      </a:accent4>
      <a:accent5>
        <a:srgbClr val="00818F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5238</Words>
  <Application>Microsoft Macintosh PowerPoint</Application>
  <PresentationFormat>On-screen Show (16:9)</PresentationFormat>
  <Paragraphs>528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Georgia</vt:lpstr>
      <vt:lpstr>Times New Roman</vt:lpstr>
      <vt:lpstr>Montserrat</vt:lpstr>
      <vt:lpstr>Arial</vt:lpstr>
      <vt:lpstr>Oswald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Nyein Chan Aung</cp:lastModifiedBy>
  <cp:revision>4</cp:revision>
  <dcterms:modified xsi:type="dcterms:W3CDTF">2026-03-03T04:00:06Z</dcterms:modified>
</cp:coreProperties>
</file>